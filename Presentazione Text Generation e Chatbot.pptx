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323" r:id="rId3"/>
    <p:sldId id="264" r:id="rId4"/>
    <p:sldId id="267" r:id="rId5"/>
    <p:sldId id="266" r:id="rId6"/>
    <p:sldId id="269" r:id="rId7"/>
    <p:sldId id="271" r:id="rId8"/>
    <p:sldId id="274" r:id="rId9"/>
    <p:sldId id="276" r:id="rId10"/>
    <p:sldId id="330" r:id="rId11"/>
    <p:sldId id="331" r:id="rId12"/>
    <p:sldId id="332" r:id="rId13"/>
    <p:sldId id="333" r:id="rId14"/>
    <p:sldId id="285" r:id="rId15"/>
    <p:sldId id="297" r:id="rId16"/>
    <p:sldId id="324" r:id="rId17"/>
    <p:sldId id="298" r:id="rId18"/>
    <p:sldId id="325" r:id="rId19"/>
    <p:sldId id="326" r:id="rId20"/>
    <p:sldId id="296" r:id="rId21"/>
    <p:sldId id="321" r:id="rId22"/>
    <p:sldId id="322" r:id="rId23"/>
    <p:sldId id="292" r:id="rId24"/>
    <p:sldId id="328" r:id="rId25"/>
    <p:sldId id="329" r:id="rId26"/>
    <p:sldId id="319" r:id="rId27"/>
    <p:sldId id="300" r:id="rId28"/>
    <p:sldId id="318" r:id="rId29"/>
    <p:sldId id="301" r:id="rId30"/>
    <p:sldId id="304" r:id="rId31"/>
    <p:sldId id="305" r:id="rId32"/>
    <p:sldId id="306" r:id="rId33"/>
    <p:sldId id="307" r:id="rId34"/>
    <p:sldId id="302" r:id="rId35"/>
    <p:sldId id="308" r:id="rId36"/>
    <p:sldId id="309" r:id="rId37"/>
    <p:sldId id="310" r:id="rId38"/>
    <p:sldId id="311" r:id="rId39"/>
    <p:sldId id="312" r:id="rId40"/>
    <p:sldId id="313" r:id="rId41"/>
    <p:sldId id="327" r:id="rId42"/>
    <p:sldId id="314" r:id="rId43"/>
    <p:sldId id="315" r:id="rId44"/>
    <p:sldId id="258" r:id="rId45"/>
    <p:sldId id="316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104E5-1C45-4FAA-B773-37A32F25FC82}" type="datetimeFigureOut">
              <a:rPr lang="it-IT" smtClean="0"/>
              <a:t>04/05/2026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A33BF-C74D-4CAA-9DA7-86698AF960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71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F543D-44DA-417D-8842-D5C8AD1B3986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5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7719-3001-4821-A146-7B8743B35A24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7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04D7-4B3A-4F20-84A8-B3C54EE7A1D5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99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F7BAB-F148-4426-A9FF-5C5622718513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380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BD17-F784-4E89-91CD-E7D592036A34}" type="datetime1">
              <a:rPr lang="it-IT" smtClean="0"/>
              <a:t>04/05/2026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134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6009-A426-4227-8EC4-E719305A90A7}" type="datetime1">
              <a:rPr lang="it-IT" smtClean="0"/>
              <a:t>04/05/2026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04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8D5D-4CD9-4775-9875-85CFFAF69366}" type="datetime1">
              <a:rPr lang="it-IT" smtClean="0"/>
              <a:t>04/05/2026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968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BDBE2DD-59B2-484E-8100-BB70FE9F48C1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706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08EC-5482-4E43-B477-1EBD5DBE577E}" type="datetime1">
              <a:rPr lang="it-IT" smtClean="0"/>
              <a:t>04/05/2026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277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14F5A-8C92-43E6-8DEC-E54E57E525FE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36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46FB-4492-4E08-AB02-114D3BA32667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674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FC6A3D-0DCF-4864-AA00-304C8D0F89D2}" type="datetime1">
              <a:rPr lang="it-IT" smtClean="0"/>
              <a:t>04/05/2026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4A5BBB4-D05C-4BB6-A47E-461540F916E6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35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85F30B-85AE-6614-9084-88D94F42A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Text Generation e Chatbot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6F25B3-D7C7-6740-9AFF-9A325A4FB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Lorenzo Chesta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E0206E-E3FB-1559-EB0B-CFAE698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036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C1BA-5A76-971E-D3D1-A1D688E7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6B0B14-FB8A-7ECC-6C23-4A085F46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53" y="594359"/>
            <a:ext cx="3880883" cy="2286000"/>
          </a:xfrm>
        </p:spPr>
        <p:txBody>
          <a:bodyPr/>
          <a:lstStyle/>
          <a:p>
            <a:pPr algn="ctr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Approccio </a:t>
            </a:r>
            <a:br>
              <a:rPr lang="it-IT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rule-based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8F1A160-1ACC-49EE-808D-B9CF31570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821" y="2962089"/>
            <a:ext cx="3508745" cy="1209985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latin typeface="Arial" panose="020B0604020202020204" pitchFamily="34" charset="0"/>
                <a:cs typeface="Arial" panose="020B0604020202020204" pitchFamily="34" charset="0"/>
              </a:rPr>
              <a:t>Mappare il linguaggio naturale su strutture sintattiche predefinite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6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585CD1-5E74-6BF0-19CC-5221D713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</a:t>
            </a:fld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75EE6E1-A7A7-1DE7-9512-894255DC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595" y="1027257"/>
            <a:ext cx="7007542" cy="2970879"/>
          </a:xfrm>
          <a:prstGeom prst="rect">
            <a:avLst/>
          </a:prstGeom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39DD4A76-AE91-0728-37FD-8A98BDB117C3}"/>
              </a:ext>
            </a:extLst>
          </p:cNvPr>
          <p:cNvCxnSpPr>
            <a:cxnSpLocks/>
          </p:cNvCxnSpPr>
          <p:nvPr/>
        </p:nvCxnSpPr>
        <p:spPr>
          <a:xfrm>
            <a:off x="6096000" y="1471545"/>
            <a:ext cx="74195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umetto: rettangolo 18">
            <a:extLst>
              <a:ext uri="{FF2B5EF4-FFF2-40B4-BE49-F238E27FC236}">
                <a16:creationId xmlns:a16="http://schemas.microsoft.com/office/drawing/2014/main" id="{0632DB9F-6B5E-3FC6-1DB0-85E3A2A3A043}"/>
              </a:ext>
            </a:extLst>
          </p:cNvPr>
          <p:cNvSpPr/>
          <p:nvPr/>
        </p:nvSpPr>
        <p:spPr>
          <a:xfrm>
            <a:off x="4521218" y="336061"/>
            <a:ext cx="2147777" cy="721998"/>
          </a:xfrm>
          <a:prstGeom prst="wedgeRectCallout">
            <a:avLst>
              <a:gd name="adj1" fmla="val 31633"/>
              <a:gd name="adj2" fmla="val 750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Ricerca di keyword predefinite</a:t>
            </a:r>
            <a:endParaRPr lang="it-IT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93C8F89D-1BE1-DB21-486E-4B248A2E4F24}"/>
              </a:ext>
            </a:extLst>
          </p:cNvPr>
          <p:cNvSpPr/>
          <p:nvPr/>
        </p:nvSpPr>
        <p:spPr>
          <a:xfrm>
            <a:off x="7233954" y="422138"/>
            <a:ext cx="3092528" cy="820262"/>
          </a:xfrm>
          <a:prstGeom prst="wedgeRectCallout">
            <a:avLst>
              <a:gd name="adj1" fmla="val 20667"/>
              <a:gd name="adj2" fmla="val 6941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Risposte generate secondo regole di riassemblaggio predefinite</a:t>
            </a:r>
            <a:endParaRPr lang="it-IT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0B85BDD-5E02-F533-4E46-95B9A60B0F1F}"/>
              </a:ext>
            </a:extLst>
          </p:cNvPr>
          <p:cNvSpPr txBox="1"/>
          <p:nvPr/>
        </p:nvSpPr>
        <p:spPr>
          <a:xfrm>
            <a:off x="4573906" y="4226301"/>
            <a:ext cx="711292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spcBef>
                <a:spcPts val="1200"/>
              </a:spcBef>
              <a:spcAft>
                <a:spcPts val="200"/>
              </a:spcAft>
              <a:buClr>
                <a:srgbClr val="3494BA"/>
              </a:buClr>
              <a:buSzPct val="100000"/>
              <a:defRPr/>
            </a:pPr>
            <a:r>
              <a:rPr lang="it-IT"/>
              <a:t>✅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Interpretabilità: ogni decisione può essere facilmente ricondotta ad una regola</a:t>
            </a:r>
          </a:p>
          <a:p>
            <a:pPr lvl="0" algn="just" defTabSz="914400">
              <a:spcBef>
                <a:spcPts val="1200"/>
              </a:spcBef>
              <a:spcAft>
                <a:spcPts val="200"/>
              </a:spcAft>
              <a:buClr>
                <a:srgbClr val="3494BA"/>
              </a:buClr>
              <a:buSzPct val="100000"/>
              <a:defRPr/>
            </a:pPr>
            <a:r>
              <a:rPr lang="it-IT"/>
              <a:t>❌ Rigidità: se il testo non corrisponde ad una regola, il sistema non riesce a gestirlo</a:t>
            </a:r>
          </a:p>
          <a:p>
            <a:pPr lvl="0" algn="just" defTabSz="914400">
              <a:spcBef>
                <a:spcPts val="1200"/>
              </a:spcBef>
              <a:spcAft>
                <a:spcPts val="200"/>
              </a:spcAft>
              <a:buClr>
                <a:srgbClr val="3494BA"/>
              </a:buClr>
              <a:buSzPct val="100000"/>
              <a:defRPr/>
            </a:pPr>
            <a:r>
              <a:rPr lang="it-IT"/>
              <a:t>❌ Difficile scalabilità: per riconoscere nuovi pattern è necessario definire nuove regole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159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1399CA-F54E-3B87-85E0-D7800784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statistico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26DECBD-60B6-AD7F-F829-E5AD76572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67987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/>
                  <a:t> Stima quale parola ha la maggiore probabilità di comparire dopo una determinata sequenza (</a:t>
                </a:r>
                <a:r>
                  <a:rPr lang="it-IT" sz="2200" b="1"/>
                  <a:t>probabilità condizionata</a:t>
                </a:r>
                <a:r>
                  <a:rPr lang="it-IT" sz="2200"/>
                  <a:t>)</a:t>
                </a:r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/>
                  <a:t> L’intera sequenza è calcolata tramite la </a:t>
                </a:r>
                <a:r>
                  <a:rPr lang="it-IT" sz="2200" b="1"/>
                  <a:t>regola della catena</a:t>
                </a:r>
                <a:r>
                  <a:rPr lang="it-IT" sz="2200"/>
                  <a:t> di probabilità: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it-IT"/>
              </a:p>
              <a:p>
                <a:pPr marL="0" indent="0" algn="ctr">
                  <a:buNone/>
                </a:pPr>
                <a:endParaRPr lang="it-IT"/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sz="2200"/>
                  <a:t> Si sfrutta l’</a:t>
                </a:r>
                <a:r>
                  <a:rPr lang="it-IT" sz="2200" b="1"/>
                  <a:t>assunzione di Markov</a:t>
                </a:r>
                <a:r>
                  <a:rPr lang="it-IT" sz="2200"/>
                  <a:t>: la probabilità di una parola dipende solo dalle </a:t>
                </a:r>
                <a14:m>
                  <m:oMath xmlns:m="http://schemas.openxmlformats.org/officeDocument/2006/math">
                    <m:r>
                      <a:rPr lang="it-IT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22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it-IT" sz="2200"/>
                  <a:t> parole immediatamente precedenti: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+1: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26DECBD-60B6-AD7F-F829-E5AD76572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67987"/>
              </a:xfrm>
              <a:blipFill>
                <a:blip r:embed="rId2"/>
                <a:stretch>
                  <a:fillRect l="-1455" r="-15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01AB0D-EE7E-EC59-2D7E-39D93AE4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934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A4E097-7BD4-2C2D-6A8F-1FD18E5F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statistico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EC4D5D9-5ADB-7146-900A-D3B1FF1554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it-IT"/>
                  <a:t> (trigramma):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−3+1: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/>
              </a:p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Esempio: un modello a trigrammi deve completare la frase partendo dall’input </a:t>
                </a:r>
                <a:r>
                  <a:rPr lang="it-IT" i="1"/>
                  <a:t>Il cane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it-IT" i="1"/>
                  <a:t>  </a:t>
                </a:r>
                <a:r>
                  <a:rPr lang="it-IT"/>
                  <a:t>La parola successiva è la più frequente dopo </a:t>
                </a:r>
                <a:r>
                  <a:rPr lang="it-IT" i="1"/>
                  <a:t>Il cane </a:t>
                </a:r>
                <a:r>
                  <a:rPr lang="it-IT"/>
                  <a:t>nel corpus: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it-IT"/>
              </a:p>
              <a:p>
                <a:pPr marL="0" indent="0" algn="ctr">
                  <a:buNone/>
                </a:pPr>
                <a:endParaRPr lang="it-IT"/>
              </a:p>
              <a:p>
                <a:pPr marL="0" indent="0" algn="just">
                  <a:buNone/>
                </a:pPr>
                <a:endParaRPr lang="it-IT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EC4D5D9-5ADB-7146-900A-D3B1FF155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0993A5-81E9-359D-D457-BBC06A9F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C9780946-E846-D5E4-5F49-E2197110C7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963080"/>
                  </p:ext>
                </p:extLst>
              </p:nvPr>
            </p:nvGraphicFramePr>
            <p:xfrm>
              <a:off x="2032000" y="3803904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91741393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01016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54202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Prossima parola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r>
                            <a:rPr lang="it-IT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Conteggio nel corpus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𝑰𝒍</m:t>
                                </m:r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𝒄𝒂𝒏𝒆</m:t>
                                </m:r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35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abbaia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85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0.85 (85%)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903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corre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10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0.10 (10%)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0758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gioca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5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0.05 (5%)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4584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C9780946-E846-D5E4-5F49-E2197110C7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4963080"/>
                  </p:ext>
                </p:extLst>
              </p:nvPr>
            </p:nvGraphicFramePr>
            <p:xfrm>
              <a:off x="2032000" y="3803904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917413934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01016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54202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225" t="-8197" r="-200674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Conteggio nel corpus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197" r="-89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45353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abbaia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85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0.85 (85%)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903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corre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10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0.10 (10%)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0758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gioca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5 volte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/>
                            <a:t>0.05 (5%)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4584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F901EC4-6B6C-B690-7E62-FB488B80EB9B}"/>
              </a:ext>
            </a:extLst>
          </p:cNvPr>
          <p:cNvSpPr/>
          <p:nvPr/>
        </p:nvSpPr>
        <p:spPr>
          <a:xfrm>
            <a:off x="2956702" y="4203356"/>
            <a:ext cx="6455664" cy="3241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89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DE5D4D-E501-0192-0978-4318F4CE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statistico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57FB0DA-0D07-3B2C-681A-2E89189DA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Vantaggi:</a:t>
                </a:r>
              </a:p>
              <a:p>
                <a:pPr lvl="1" algn="just">
                  <a:lnSpc>
                    <a:spcPct val="125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Non richiede la definizione di regole</a:t>
                </a:r>
              </a:p>
              <a:p>
                <a:pPr lvl="1" algn="just">
                  <a:lnSpc>
                    <a:spcPct val="125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Impara le sfumature del linguaggio naturale (eccezioni, modi di dire, …) direttamente dai dati come sequenze probabili</a:t>
                </a:r>
              </a:p>
              <a:p>
                <a:pPr lvl="1" algn="just">
                  <a:lnSpc>
                    <a:spcPct val="125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Supporta il multilinguismo: l’algoritmo è lo stesso, basta cambiare il corpus di addestramento</a:t>
                </a:r>
              </a:p>
              <a:p>
                <a:pPr algn="just">
                  <a:lnSpc>
                    <a:spcPct val="125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Svantaggi:</a:t>
                </a:r>
              </a:p>
              <a:p>
                <a:pPr lvl="1" algn="just">
                  <a:lnSpc>
                    <a:spcPct val="125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Coerenza solo locale, non globale: parole vicine sono sintatticamente corrette, ma il testo generato non ha un senso logico complessivo («Word Salad»). </a:t>
                </a:r>
              </a:p>
              <a:p>
                <a:pPr marL="201168" lvl="1" indent="0" algn="just">
                  <a:lnSpc>
                    <a:spcPct val="125000"/>
                  </a:lnSpc>
                  <a:buNone/>
                </a:pPr>
                <a:r>
                  <a:rPr lang="it-IT"/>
                  <a:t>    Esempio (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it-IT"/>
                  <a:t>): </a:t>
                </a:r>
                <a:r>
                  <a:rPr lang="it-IT" i="1"/>
                  <a:t>Il presidente della Repubblica Ceca confina con la Germania.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57FB0DA-0D07-3B2C-681A-2E89189DA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r="-13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BF31CB-A81F-A5D7-6629-C97BF190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5</a:t>
            </a:fld>
            <a:endParaRPr lang="it-IT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AD0C12BB-A680-AE49-2A1A-4D5059BEEEC1}"/>
              </a:ext>
            </a:extLst>
          </p:cNvPr>
          <p:cNvCxnSpPr>
            <a:cxnSpLocks/>
          </p:cNvCxnSpPr>
          <p:nvPr/>
        </p:nvCxnSpPr>
        <p:spPr>
          <a:xfrm>
            <a:off x="7046882" y="5547652"/>
            <a:ext cx="14103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7E297F0C-4C03-5DBA-5DB0-8BCF43B1E5E9}"/>
              </a:ext>
            </a:extLst>
          </p:cNvPr>
          <p:cNvSpPr/>
          <p:nvPr/>
        </p:nvSpPr>
        <p:spPr>
          <a:xfrm>
            <a:off x="7390571" y="4175160"/>
            <a:ext cx="2970028" cy="940302"/>
          </a:xfrm>
          <a:prstGeom prst="wedgeRectCallout">
            <a:avLst>
              <a:gd name="adj1" fmla="val -31335"/>
              <a:gd name="adj2" fmla="val 68531"/>
            </a:avLst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it-IT" sz="1200"/>
              <a:t>Ogni terna di parole è grammaticalmente e sintatticamente corretta. Il senso complessivo della frase viene però perso</a:t>
            </a:r>
          </a:p>
        </p:txBody>
      </p:sp>
    </p:spTree>
    <p:extLst>
      <p:ext uri="{BB962C8B-B14F-4D97-AF65-F5344CB8AC3E}">
        <p14:creationId xmlns:p14="http://schemas.microsoft.com/office/powerpoint/2010/main" val="352072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DA8F5-90DC-E9F9-68EC-0699A4B3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neurale: 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5DE5FD1-8DDA-2592-70FE-CFACF19A62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</a:t>
                </a:r>
                <a:r>
                  <a:rPr lang="it-IT" b="1"/>
                  <a:t>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/>
              </a:p>
              <a:p>
                <a:pPr lvl="1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E’ il risultato di una funzione matematica che ad ogni step combina lo stato nascosto precedente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it-IT"/>
                  <a:t> e l’inupt attuale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it-IT"/>
              </a:p>
              <a:p>
                <a:pPr lvl="1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Trasporta l’informazione delle parole precedenti lungo tutta la catena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5DE5FD1-8DDA-2592-70FE-CFACF19A62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r="-13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E5C39E-D49F-3562-9AC7-59B6FABE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1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DB966D-6C5F-DB5E-81EA-F419B053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7</a:t>
            </a:fld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CDA980-07B9-5A39-423B-A26B371D882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87195" y="413927"/>
            <a:ext cx="10058400" cy="4022725"/>
          </a:xfrm>
        </p:spPr>
        <p:txBody>
          <a:bodyPr/>
          <a:lstStyle/>
          <a:p>
            <a:pPr marL="0" indent="0" algn="ctr">
              <a:buNone/>
            </a:pPr>
            <a:r>
              <a:rPr lang="it-IT" i="1"/>
              <a:t>Le </a:t>
            </a:r>
            <a:r>
              <a:rPr lang="it-IT" b="1" i="1"/>
              <a:t>chiavi</a:t>
            </a:r>
            <a:r>
              <a:rPr lang="it-IT" i="1"/>
              <a:t> che ho lasciato ieri sul tavolo della cucina </a:t>
            </a:r>
            <a:r>
              <a:rPr lang="it-IT" b="1" i="1"/>
              <a:t>sono</a:t>
            </a:r>
            <a:r>
              <a:rPr lang="it-IT" i="1"/>
              <a:t> sparite.</a:t>
            </a:r>
          </a:p>
          <a:p>
            <a:pPr marL="0" indent="0" algn="ctr">
              <a:buNone/>
            </a:pPr>
            <a:endParaRPr lang="it-IT" i="1"/>
          </a:p>
          <a:p>
            <a:pPr marL="0" indent="0" algn="ctr">
              <a:buNone/>
            </a:pPr>
            <a:endParaRPr lang="it-IT" i="1"/>
          </a:p>
        </p:txBody>
      </p:sp>
      <p:pic>
        <p:nvPicPr>
          <p:cNvPr id="5" name="Segnaposto contenuto 5">
            <a:extLst>
              <a:ext uri="{FF2B5EF4-FFF2-40B4-BE49-F238E27FC236}">
                <a16:creationId xmlns:a16="http://schemas.microsoft.com/office/drawing/2014/main" id="{11ABCDB9-22CC-51B4-AD04-CC5EF387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633" y="1552661"/>
            <a:ext cx="5338734" cy="1822152"/>
          </a:xfrm>
          <a:prstGeom prst="rect">
            <a:avLst/>
          </a:prstGeom>
        </p:spPr>
      </p:pic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638F9CCF-5293-B656-3193-48B75AD857A6}"/>
              </a:ext>
            </a:extLst>
          </p:cNvPr>
          <p:cNvSpPr/>
          <p:nvPr/>
        </p:nvSpPr>
        <p:spPr>
          <a:xfrm>
            <a:off x="3298927" y="3608737"/>
            <a:ext cx="701749" cy="296995"/>
          </a:xfrm>
          <a:prstGeom prst="wedgeRectCallout">
            <a:avLst>
              <a:gd name="adj1" fmla="val 48732"/>
              <a:gd name="adj2" fmla="val -10937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/>
              <a:t>Le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1A65E0B6-8ABB-7D79-BEC6-ABC504629572}"/>
              </a:ext>
            </a:extLst>
          </p:cNvPr>
          <p:cNvSpPr/>
          <p:nvPr/>
        </p:nvSpPr>
        <p:spPr>
          <a:xfrm>
            <a:off x="4534432" y="3608738"/>
            <a:ext cx="896679" cy="296994"/>
          </a:xfrm>
          <a:prstGeom prst="wedgeRectCallout">
            <a:avLst>
              <a:gd name="adj1" fmla="val 45263"/>
              <a:gd name="adj2" fmla="val -12357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/>
              <a:t>chiavi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6A6D9252-745A-084C-4B25-93E87346F02D}"/>
              </a:ext>
            </a:extLst>
          </p:cNvPr>
          <p:cNvSpPr/>
          <p:nvPr/>
        </p:nvSpPr>
        <p:spPr>
          <a:xfrm>
            <a:off x="2814083" y="1188743"/>
            <a:ext cx="896679" cy="296994"/>
          </a:xfrm>
          <a:prstGeom prst="wedgeRectCallout">
            <a:avLst>
              <a:gd name="adj1" fmla="val 67793"/>
              <a:gd name="adj2" fmla="val 9123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/>
              <a:t>chiavi</a:t>
            </a:r>
          </a:p>
        </p:txBody>
      </p:sp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E347070F-2116-13A8-2BEC-601E2E486BA2}"/>
              </a:ext>
            </a:extLst>
          </p:cNvPr>
          <p:cNvSpPr/>
          <p:nvPr/>
        </p:nvSpPr>
        <p:spPr>
          <a:xfrm>
            <a:off x="4550735" y="1238319"/>
            <a:ext cx="701749" cy="296995"/>
          </a:xfrm>
          <a:prstGeom prst="wedgeRectCallout">
            <a:avLst>
              <a:gd name="adj1" fmla="val 72974"/>
              <a:gd name="adj2" fmla="val 8394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i="1"/>
              <a:t>che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7658D1F5-9440-0A10-7287-A231EFAAFB0E}"/>
              </a:ext>
            </a:extLst>
          </p:cNvPr>
          <p:cNvSpPr/>
          <p:nvPr/>
        </p:nvSpPr>
        <p:spPr>
          <a:xfrm>
            <a:off x="629447" y="1740004"/>
            <a:ext cx="2262607" cy="757299"/>
          </a:xfrm>
          <a:prstGeom prst="wedgeRectCallout">
            <a:avLst>
              <a:gd name="adj1" fmla="val 72022"/>
              <a:gd name="adj2" fmla="val 420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/>
              <a:t>«Articolo femminile plurale»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484D4C82-F93B-BF4D-B30A-4DA53A581A8A}"/>
              </a:ext>
            </a:extLst>
          </p:cNvPr>
          <p:cNvSpPr/>
          <p:nvPr/>
        </p:nvSpPr>
        <p:spPr>
          <a:xfrm>
            <a:off x="5787063" y="1171395"/>
            <a:ext cx="2092840" cy="628684"/>
          </a:xfrm>
          <a:prstGeom prst="wedgeRectCallout">
            <a:avLst>
              <a:gd name="adj1" fmla="val -34905"/>
              <a:gd name="adj2" fmla="val 9107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/>
              <a:t>«Soggetto femminile plurale»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348751C4-52CE-8B91-27DE-084C17AA0DC6}"/>
              </a:ext>
            </a:extLst>
          </p:cNvPr>
          <p:cNvSpPr/>
          <p:nvPr/>
        </p:nvSpPr>
        <p:spPr>
          <a:xfrm>
            <a:off x="8546631" y="934478"/>
            <a:ext cx="2391506" cy="1731202"/>
          </a:xfrm>
          <a:prstGeom prst="wedgeRectCallout">
            <a:avLst>
              <a:gd name="adj1" fmla="val -31623"/>
              <a:gd name="adj2" fmla="val -602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/>
              <a:t>Grazie allo stato nascosto viene mantenuta la coerenza tra soggetto e verbo nonostante siano distanti nella frase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1F23A9A2-E04E-F786-5F29-BA9E335E2F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447" y="4436652"/>
                <a:ext cx="10058400" cy="1450757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/>
                  <a:t> Problemi:</a:t>
                </a:r>
              </a:p>
              <a:p>
                <a:pPr lvl="1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Vanishing gradient =&gt; perdita di relazioni a lungo raggio</a:t>
                </a:r>
              </a:p>
              <a:p>
                <a:pPr lvl="1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it-IT"/>
                  <a:t> Impossibilità di parallelizzare l’addestramento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t-IT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r>
                  <a:rPr lang="it-IT"/>
                  <a:t> )</a:t>
                </a:r>
              </a:p>
            </p:txBody>
          </p:sp>
        </mc:Choice>
        <mc:Fallback xmlns="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1F23A9A2-E04E-F786-5F29-BA9E335E2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47" y="4436652"/>
                <a:ext cx="10058400" cy="1450757"/>
              </a:xfrm>
              <a:prstGeom prst="rect">
                <a:avLst/>
              </a:prstGeom>
              <a:blipFill>
                <a:blip r:embed="rId3"/>
                <a:stretch>
                  <a:fillRect l="-545" b="-67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10E0D6-0284-9D2F-CE63-C01B0219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neurale: LSTM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0B7109EE-1143-0365-90D6-10786292B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1009" y="1831043"/>
            <a:ext cx="4369982" cy="2373290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4588D7-E214-1026-708D-0DF73286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8</a:t>
            </a:fld>
            <a:endParaRPr lang="it-IT"/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CB70316E-6CD4-3055-FE8F-103BFDB2A497}"/>
              </a:ext>
            </a:extLst>
          </p:cNvPr>
          <p:cNvSpPr/>
          <p:nvPr/>
        </p:nvSpPr>
        <p:spPr>
          <a:xfrm>
            <a:off x="712382" y="1906740"/>
            <a:ext cx="2973414" cy="1110948"/>
          </a:xfrm>
          <a:prstGeom prst="wedgeRectCallout">
            <a:avLst>
              <a:gd name="adj1" fmla="val 55499"/>
              <a:gd name="adj2" fmla="val 192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b="1"/>
              <a:t>Cell State</a:t>
            </a:r>
            <a:r>
              <a:rPr lang="it-IT" sz="1600"/>
              <a:t>: memoria a </a:t>
            </a:r>
            <a:r>
              <a:rPr lang="it-IT" sz="1600" u="sng"/>
              <a:t>lungo</a:t>
            </a:r>
            <a:r>
              <a:rPr lang="it-IT" sz="1600"/>
              <a:t> termine. Attraversa la catena subendo lievi modifiche lineari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6B9133-89FA-6215-4D52-A20861919844}"/>
              </a:ext>
            </a:extLst>
          </p:cNvPr>
          <p:cNvSpPr txBox="1">
            <a:spLocks/>
          </p:cNvSpPr>
          <p:nvPr/>
        </p:nvSpPr>
        <p:spPr>
          <a:xfrm>
            <a:off x="788936" y="4298017"/>
            <a:ext cx="10058400" cy="18862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Permane il problema del collo di bottiglia: comprimere l’informazione di una frase arbitrariamente lunga in un </a:t>
            </a:r>
            <a:r>
              <a:rPr lang="it-IT" b="1"/>
              <a:t>unico vettore di dimensione fissa </a:t>
            </a:r>
            <a:r>
              <a:rPr lang="it-IT"/>
              <a:t>(lo stato nascosto) costringe il modello a «dimenticare» l’inizio della frase (</a:t>
            </a:r>
            <a:r>
              <a:rPr lang="it-IT" b="1"/>
              <a:t>perdita delle dipendenze a lungo raggio</a:t>
            </a:r>
            <a:r>
              <a:rPr lang="it-IT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629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0ADFE6-FD29-D5B8-59AA-7724455C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Approccio neurale: Transformer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96D3F6-1DD6-2264-CC2C-9852CCAD8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Architettura che prevede l’</a:t>
            </a:r>
            <a:r>
              <a:rPr lang="it-IT" b="1"/>
              <a:t>elaborazione in parallelo</a:t>
            </a:r>
            <a:r>
              <a:rPr lang="it-IT"/>
              <a:t> dei token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Ogni token ha accesso diretto all’</a:t>
            </a:r>
            <a:r>
              <a:rPr lang="it-IT" b="1"/>
              <a:t>intera sequenza</a:t>
            </a:r>
            <a:r>
              <a:rPr lang="it-IT"/>
              <a:t>, per cui non è più necessario un vettore che contenga tutta l’informazione della frase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Il Transformer originale è composto da Encoder e Decoder, tuttavia gli LLM moderni sono </a:t>
            </a:r>
            <a:r>
              <a:rPr lang="it-IT" b="1"/>
              <a:t>Decoder-only</a:t>
            </a:r>
            <a:r>
              <a:rPr lang="it-IT"/>
              <a:t> (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la comprensione del contesto emerge come proprietà delle enormi dimensioni del modello e della mole di dati usata nel pre-training</a:t>
            </a:r>
            <a:r>
              <a:rPr lang="it-IT"/>
              <a:t>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F22083-8D64-4442-D736-CAB7FC95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83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CA8A9F-230C-9E40-8787-D3556FA6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Transformer vs RNN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CEBD55-E019-821A-F762-1C540118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it-IT" sz="1800" i="1"/>
              <a:t>Lasciate che vi presenti il vostro nuovo insegnante di Difesa Contro le Arti Oscure: io. Gilderoy Allock, Ordine di Merlino, terza classe, membro della Lega Contro Le Arti Oscure e cinque volte vincitore del premio per il sorriso più seducente, promosso dal Settimanale delle Streghe. Ma lasciamo stare…non mi sono certo liberato di Bandon la strega facendole un sorriso!</a:t>
            </a:r>
          </a:p>
          <a:p>
            <a:pPr algn="ctr">
              <a:lnSpc>
                <a:spcPct val="150000"/>
              </a:lnSpc>
            </a:pPr>
            <a:endParaRPr lang="it-IT" sz="1800" i="1"/>
          </a:p>
          <a:p>
            <a:pPr algn="ctr">
              <a:lnSpc>
                <a:spcPct val="150000"/>
              </a:lnSpc>
            </a:pPr>
            <a:endParaRPr lang="it-IT" sz="1800" i="1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420E8D-3BE0-1860-6F25-41177AB3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10</a:t>
            </a:fld>
            <a:endParaRPr lang="it-IT"/>
          </a:p>
        </p:txBody>
      </p:sp>
      <p:pic>
        <p:nvPicPr>
          <p:cNvPr id="1026" name="Picture 2" descr="Gilderoy Lockhart | Official Harry Potter Encyclopedia">
            <a:extLst>
              <a:ext uri="{FF2B5EF4-FFF2-40B4-BE49-F238E27FC236}">
                <a16:creationId xmlns:a16="http://schemas.microsoft.com/office/drawing/2014/main" id="{A4B5AA4E-CD91-45F9-4E2C-0CA464E6FD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44"/>
          <a:stretch>
            <a:fillRect/>
          </a:stretch>
        </p:blipFill>
        <p:spPr bwMode="auto">
          <a:xfrm>
            <a:off x="4797260" y="3857414"/>
            <a:ext cx="2597480" cy="238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897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36C5-74A2-982A-D063-C33781BE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3B8768-BE74-6F6A-DDD5-6A0E9215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Transformer vs RNN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B5F39D-2B1B-B112-643D-69230C404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it-IT" sz="1800" i="1"/>
              <a:t>Lasciate che vi presenti il vostro nuovo </a:t>
            </a:r>
            <a:r>
              <a:rPr lang="it-IT" sz="1800" b="1" i="1"/>
              <a:t>insegnante</a:t>
            </a:r>
            <a:r>
              <a:rPr lang="it-IT" sz="1800" i="1"/>
              <a:t> di Difesa Contro le Arti Oscure: io. </a:t>
            </a:r>
            <a:r>
              <a:rPr lang="it-IT" sz="1800" b="1" i="1"/>
              <a:t>Gilderoy Allock</a:t>
            </a:r>
            <a:r>
              <a:rPr lang="it-IT" sz="1800" i="1"/>
              <a:t>, Ordine di Merlino, terza classe, membro della Lega Contro Le Arti Oscure e cinque volte vincitore del premio per il sorriso più seducente, promosso dal Settimanale delle Streghe. Ma lasciamo stare…non mi sono certo liberato di Bandon la strega facendole un sorriso!</a:t>
            </a:r>
          </a:p>
          <a:p>
            <a:pPr algn="ctr">
              <a:lnSpc>
                <a:spcPct val="150000"/>
              </a:lnSpc>
            </a:pPr>
            <a:endParaRPr lang="it-IT" sz="1800" i="1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800" i="1"/>
              <a:t> </a:t>
            </a:r>
            <a:r>
              <a:rPr lang="it-IT" sz="1800" b="1"/>
              <a:t>Dipendenze a lungo raggio</a:t>
            </a:r>
            <a:r>
              <a:rPr lang="it-IT" sz="1800"/>
              <a:t>: una RNN potrebbe faticare a mantenere il legame semantico tra il ruolo (insegnante) e il nome proprio che compare dopo. Con il Transformer, invece, la Query di </a:t>
            </a:r>
            <a:r>
              <a:rPr lang="it-IT" sz="1800" i="1"/>
              <a:t>Gilderoy Allock </a:t>
            </a:r>
            <a:r>
              <a:rPr lang="it-IT" sz="1800"/>
              <a:t>punta direttamente alla Key di </a:t>
            </a:r>
            <a:r>
              <a:rPr lang="it-IT" sz="1800" i="1"/>
              <a:t>insegnante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800" i="1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8D913C-4B59-1E78-0735-8A6EC51F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703B-9E54-7DAE-A133-127DBCD7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E1866D-4588-57E2-01D3-E31A4676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Transformer vs RNN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130581-3882-96D8-9C77-A2965B015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it-IT" sz="1800" i="1"/>
              <a:t>Lasciate che vi presenti il vostro nuovo insegnante di Difesa Contro le Arti Oscure: io. </a:t>
            </a:r>
            <a:r>
              <a:rPr lang="it-IT" sz="1800" b="1" i="1"/>
              <a:t>Gilderoy</a:t>
            </a:r>
            <a:r>
              <a:rPr lang="it-IT" sz="1800" i="1"/>
              <a:t> Allock, Ordine di Merlino, terza classe, </a:t>
            </a:r>
            <a:r>
              <a:rPr lang="it-IT" sz="1800" b="1" i="1"/>
              <a:t>membro</a:t>
            </a:r>
            <a:r>
              <a:rPr lang="it-IT" sz="1800" i="1"/>
              <a:t> della Lega Contro Le Arti Oscure e cinque volte </a:t>
            </a:r>
            <a:r>
              <a:rPr lang="it-IT" sz="1800" b="1" i="1"/>
              <a:t>vincitore</a:t>
            </a:r>
            <a:r>
              <a:rPr lang="it-IT" sz="1800" i="1"/>
              <a:t> del premio per il sorriso più seducente, promosso dal Settimanale delle Streghe. Ma lasciamo stare…non mi sono certo liberato di Bandon la strega facendole un sorriso!</a:t>
            </a:r>
          </a:p>
          <a:p>
            <a:pPr algn="ctr">
              <a:lnSpc>
                <a:spcPct val="150000"/>
              </a:lnSpc>
            </a:pPr>
            <a:endParaRPr lang="it-IT" sz="1800" i="1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800" i="1"/>
              <a:t> </a:t>
            </a:r>
            <a:r>
              <a:rPr lang="it-IT" sz="1800" b="1"/>
              <a:t>Multi-Head Attention</a:t>
            </a:r>
            <a:r>
              <a:rPr lang="it-IT" sz="1800"/>
              <a:t>: una Head collega </a:t>
            </a:r>
            <a:r>
              <a:rPr lang="it-IT" sz="1800" i="1"/>
              <a:t>Gilderoy</a:t>
            </a:r>
            <a:r>
              <a:rPr lang="it-IT" sz="1800"/>
              <a:t> a </a:t>
            </a:r>
            <a:r>
              <a:rPr lang="it-IT" sz="1800" i="1"/>
              <a:t>membro</a:t>
            </a:r>
            <a:r>
              <a:rPr lang="it-IT" sz="1800"/>
              <a:t>, un’altra Head collega </a:t>
            </a:r>
            <a:r>
              <a:rPr lang="it-IT" sz="1800" i="1"/>
              <a:t>Gilderoy</a:t>
            </a:r>
            <a:r>
              <a:rPr lang="it-IT" sz="1800"/>
              <a:t> a </a:t>
            </a:r>
            <a:r>
              <a:rPr lang="it-IT" sz="1800" i="1"/>
              <a:t>vincitore</a:t>
            </a:r>
            <a:r>
              <a:rPr lang="it-IT" sz="1800"/>
              <a:t>, ecc. Una RNN faticherebbe a non «diluire» </a:t>
            </a:r>
            <a:r>
              <a:rPr lang="it-IT" sz="1800" i="1"/>
              <a:t>Gilderoy</a:t>
            </a:r>
            <a:r>
              <a:rPr lang="it-IT" sz="1800"/>
              <a:t> mentre attraversa la lista di titoli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1800" i="1"/>
          </a:p>
          <a:p>
            <a:pPr algn="ctr">
              <a:lnSpc>
                <a:spcPct val="150000"/>
              </a:lnSpc>
            </a:pPr>
            <a:endParaRPr lang="it-IT" sz="1800" i="1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014F19-19CF-539F-C32E-3D543308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46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DD56-813A-C419-597B-0B0A60C4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850243-B14E-DDC7-ED6C-D76CF6DE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Transformer vs RNN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A94648-CAA4-265C-32DB-5EF6C6248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it-IT" sz="1800" i="1"/>
              <a:t>Lasciate che vi presenti il vostro nuovo insegnante di Difesa Contro le Arti Oscure: io. Gilderoy Allock, Ordine di Merlino, terza classe, membro della Lega Contro Le Arti Oscure e cinque volte vincitore del premio per il </a:t>
            </a:r>
            <a:r>
              <a:rPr lang="it-IT" sz="1800" b="1" i="1"/>
              <a:t>sorriso</a:t>
            </a:r>
            <a:r>
              <a:rPr lang="it-IT" sz="1800" i="1"/>
              <a:t> più seducente, promosso dal Settimanale delle Streghe. Ma lasciamo stare…non mi sono certo liberato di Bandon la strega facendole un </a:t>
            </a:r>
            <a:r>
              <a:rPr lang="it-IT" sz="1800" b="1" i="1"/>
              <a:t>sorriso</a:t>
            </a:r>
            <a:r>
              <a:rPr lang="it-IT" sz="1800" i="1"/>
              <a:t>!</a:t>
            </a:r>
          </a:p>
          <a:p>
            <a:pPr algn="ctr">
              <a:lnSpc>
                <a:spcPct val="150000"/>
              </a:lnSpc>
            </a:pPr>
            <a:endParaRPr lang="it-IT" sz="1800" i="1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800" i="1"/>
              <a:t> </a:t>
            </a:r>
            <a:r>
              <a:rPr lang="it-IT" sz="1800" b="1"/>
              <a:t>Disambiguazione del contesto:</a:t>
            </a:r>
            <a:r>
              <a:rPr lang="it-IT" sz="1800" i="1"/>
              <a:t> </a:t>
            </a:r>
            <a:r>
              <a:rPr lang="it-IT" sz="1800"/>
              <a:t>la parola </a:t>
            </a:r>
            <a:r>
              <a:rPr lang="it-IT" sz="1800" i="1"/>
              <a:t>sorriso</a:t>
            </a:r>
            <a:r>
              <a:rPr lang="it-IT" sz="1800"/>
              <a:t> compare due volte. Tuttavia, grazie all’Attenzione il Transformer capisce che i due </a:t>
            </a:r>
            <a:r>
              <a:rPr lang="it-IT" sz="1800" i="1"/>
              <a:t>sorriso</a:t>
            </a:r>
            <a:r>
              <a:rPr lang="it-IT" sz="1800"/>
              <a:t> appartengono a due contesti diversi. Il Transformer «arricchisce» il secondo </a:t>
            </a:r>
            <a:r>
              <a:rPr lang="it-IT" sz="1800" i="1"/>
              <a:t>sorriso</a:t>
            </a:r>
            <a:r>
              <a:rPr lang="it-IT" sz="1800"/>
              <a:t> con il value «combattimento/azione», disntinguendolo dal primo </a:t>
            </a:r>
            <a:r>
              <a:rPr lang="it-IT" sz="1800" i="1"/>
              <a:t>sorriso</a:t>
            </a:r>
            <a:r>
              <a:rPr lang="it-IT" sz="1800"/>
              <a:t> «estetico»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 sz="1800" i="1"/>
          </a:p>
          <a:p>
            <a:pPr algn="ctr">
              <a:lnSpc>
                <a:spcPct val="150000"/>
              </a:lnSpc>
            </a:pPr>
            <a:endParaRPr lang="it-IT" sz="1800" i="1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D767DD-7FB8-89CD-3AF9-FCA9E7EE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6951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5F89DF-9BBA-3DC2-3171-18AC0630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Chatbot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55CA7D-2AC2-6EE3-7C27-CE438C6B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Modello linguistico in grado di sostenere </a:t>
            </a:r>
            <a:r>
              <a:rPr lang="it-IT" b="1"/>
              <a:t>conversazioni prolungate</a:t>
            </a:r>
            <a:r>
              <a:rPr lang="it-IT"/>
              <a:t>, imitando l’interazione tra esseri umani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b="1"/>
              <a:t> </a:t>
            </a:r>
            <a:r>
              <a:rPr lang="it-IT"/>
              <a:t>Un chatbot moderno si basa sugli LLM (</a:t>
            </a:r>
            <a:r>
              <a:rPr lang="it-IT" b="1"/>
              <a:t>LLM-based conversational system</a:t>
            </a:r>
            <a:r>
              <a:rPr lang="it-IT"/>
              <a:t>), ma in aggiunta: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è istruito a seguire ordini (</a:t>
            </a:r>
            <a:r>
              <a:rPr lang="it-IT" b="1"/>
              <a:t>Instruction Tuning</a:t>
            </a:r>
            <a:r>
              <a:rPr lang="it-IT"/>
              <a:t>)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è </a:t>
            </a:r>
            <a:r>
              <a:rPr lang="it-IT" i="1"/>
              <a:t>allineato</a:t>
            </a:r>
            <a:r>
              <a:rPr lang="it-IT"/>
              <a:t> con le preferenze umane (</a:t>
            </a:r>
            <a:r>
              <a:rPr lang="it-IT" b="1"/>
              <a:t>RLHF</a:t>
            </a:r>
            <a:r>
              <a:rPr lang="it-IT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C19506-62DD-610E-B1EA-B0E30EB14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6266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3763-9863-46BE-409F-FDA5A8FC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BEDB39-FE26-183B-9CCA-0B5FC72B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Instruction Tuning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9DDC84-109E-716A-58BC-199B665A7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it-IT" i="1"/>
              <a:t>Qual è la capitale della Francia?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Aspettativa 😁: </a:t>
            </a:r>
            <a:r>
              <a:rPr lang="it-IT" i="1"/>
              <a:t>Parigi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Realtà 😑: </a:t>
            </a:r>
            <a:r>
              <a:rPr lang="it-IT" i="1"/>
              <a:t>E qual è quella della Germania?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</a:t>
            </a:r>
            <a:r>
              <a:rPr lang="it-IT" b="1"/>
              <a:t>Obiettivo</a:t>
            </a:r>
            <a:r>
              <a:rPr lang="it-IT"/>
              <a:t>: far capire al modello che, se l'utente chiede qualcosa, non deve continuare il testo, ma deve eseguire il comando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A71B33-5F96-99F4-5D89-27AB7030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33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C53A6C-9177-9FAB-7D38-DF76AF03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SFT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1D782D-7A14-0AEF-E169-411CBF17A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E’ una forma di </a:t>
            </a:r>
            <a:r>
              <a:rPr lang="it-IT" b="1"/>
              <a:t>Transfer Learning</a:t>
            </a:r>
            <a:r>
              <a:rPr lang="it-IT"/>
              <a:t>: la </a:t>
            </a:r>
            <a:r>
              <a:rPr lang="it-IT" i="1"/>
              <a:t>conoscenza</a:t>
            </a:r>
            <a:r>
              <a:rPr lang="it-IT"/>
              <a:t> appresa durante il pre-addestramento viene </a:t>
            </a:r>
            <a:r>
              <a:rPr lang="it-IT" i="1"/>
              <a:t>trasferita</a:t>
            </a:r>
            <a:r>
              <a:rPr lang="it-IT"/>
              <a:t> su nuovo formato di output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Supervised Fine-Tuning (SFT) su dataset strutturati in coppie </a:t>
            </a:r>
            <a:r>
              <a:rPr lang="it-IT" b="1"/>
              <a:t>Istruzione</a:t>
            </a:r>
            <a:r>
              <a:rPr lang="it-IT"/>
              <a:t> – </a:t>
            </a:r>
            <a:r>
              <a:rPr lang="it-IT" b="1"/>
              <a:t>Risposta</a:t>
            </a:r>
            <a:r>
              <a:rPr lang="it-IT"/>
              <a:t>, dove la Risposta è stata scritta da esseri umani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b="1"/>
              <a:t> </a:t>
            </a:r>
            <a:r>
              <a:rPr lang="it-IT"/>
              <a:t>I pesi del modello vengono aggiornati tramite Backpropagation per minimizzare l’errore tra la risposta generata dal modello e quella fornita dall’umano</a:t>
            </a:r>
            <a:endParaRPr lang="it-IT" b="1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B1E37F-DD03-7CC0-CB0D-E3AA020D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8976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66A4-ACF7-3F83-46B4-3B5C3D6E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615537C5-B19F-331A-7AE0-07A8B60FE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9162" y="763547"/>
            <a:ext cx="3515347" cy="4840497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/>
              <a:t>Per ogni task si creano </a:t>
            </a:r>
            <a:r>
              <a:rPr lang="it-IT" sz="1600" b="1"/>
              <a:t>più template</a:t>
            </a:r>
            <a:r>
              <a:rPr lang="it-IT" sz="1600"/>
              <a:t>, in modo che il modello non impari solo a risolvere il task ma anche ad </a:t>
            </a:r>
            <a:r>
              <a:rPr lang="it-IT" sz="1600" b="1"/>
              <a:t>interpretare l’intenzione </a:t>
            </a:r>
            <a:r>
              <a:rPr lang="it-IT" sz="1600"/>
              <a:t>dietro diverse formulazioni linguistiche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/>
              <a:t>I «segnaposto» vengono sostiuiti con la </a:t>
            </a:r>
            <a:r>
              <a:rPr lang="it-IT" sz="1600" i="1"/>
              <a:t>Premise</a:t>
            </a:r>
            <a:r>
              <a:rPr lang="it-IT" sz="1600"/>
              <a:t>, l’</a:t>
            </a:r>
            <a:r>
              <a:rPr lang="it-IT" sz="1600" i="1"/>
              <a:t>Hypothesis</a:t>
            </a:r>
            <a:r>
              <a:rPr lang="it-IT" sz="1600"/>
              <a:t> e le </a:t>
            </a:r>
            <a:r>
              <a:rPr lang="it-IT" sz="1600" i="1"/>
              <a:t>Options</a:t>
            </a:r>
            <a:r>
              <a:rPr lang="it-IT" sz="1600"/>
              <a:t> dell’esempio specifico del dataset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FDE646-7059-13AC-500F-7F64DC3D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17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86C8458-8A47-F1B3-6209-9E48F4F2E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462" y="340633"/>
            <a:ext cx="2833223" cy="284316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4C0C4A6-EFBF-441F-4738-8CF9C597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240" y="4227248"/>
            <a:ext cx="2571450" cy="17298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980551B-A3BB-FC26-FFEC-89E87862F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20" y="4227248"/>
            <a:ext cx="2699108" cy="172988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93EC357-7BCF-69C1-21C9-ED44717BF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0458" y="4227248"/>
            <a:ext cx="2132380" cy="1729883"/>
          </a:xfrm>
          <a:prstGeom prst="rect">
            <a:avLst/>
          </a:prstGeom>
        </p:spPr>
      </p:pic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917386FA-E8F8-5A6E-3FCF-51A2C566A9CD}"/>
              </a:ext>
            </a:extLst>
          </p:cNvPr>
          <p:cNvSpPr/>
          <p:nvPr/>
        </p:nvSpPr>
        <p:spPr>
          <a:xfrm>
            <a:off x="8380230" y="3412077"/>
            <a:ext cx="308344" cy="5242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curva 22">
            <a:extLst>
              <a:ext uri="{FF2B5EF4-FFF2-40B4-BE49-F238E27FC236}">
                <a16:creationId xmlns:a16="http://schemas.microsoft.com/office/drawing/2014/main" id="{4DB9EF02-E723-C622-488F-42025853C823}"/>
              </a:ext>
            </a:extLst>
          </p:cNvPr>
          <p:cNvSpPr/>
          <p:nvPr/>
        </p:nvSpPr>
        <p:spPr>
          <a:xfrm rot="5400000">
            <a:off x="9823648" y="2793332"/>
            <a:ext cx="1584251" cy="70174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4" name="Freccia curva 23">
            <a:extLst>
              <a:ext uri="{FF2B5EF4-FFF2-40B4-BE49-F238E27FC236}">
                <a16:creationId xmlns:a16="http://schemas.microsoft.com/office/drawing/2014/main" id="{F22C0175-0FC4-C9E2-ABBB-ABCED682A6C4}"/>
              </a:ext>
            </a:extLst>
          </p:cNvPr>
          <p:cNvSpPr/>
          <p:nvPr/>
        </p:nvSpPr>
        <p:spPr>
          <a:xfrm rot="5400000" flipV="1">
            <a:off x="5444248" y="2787614"/>
            <a:ext cx="1584251" cy="70175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50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0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BC42B820-84BB-3B62-F3F4-8F11EDDD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Limite dell’Instruction Tuning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BEF5A7C6-2BDA-CBFB-ACC8-871E15EC9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it-IT"/>
              <a:t>Prompt: </a:t>
            </a:r>
            <a:r>
              <a:rPr lang="it-IT" i="1"/>
              <a:t>Scrivi un articolo che spieghi perché fumare è una scelta di vita eccellente.</a:t>
            </a:r>
          </a:p>
          <a:p>
            <a:pPr algn="just">
              <a:lnSpc>
                <a:spcPct val="150000"/>
              </a:lnSpc>
            </a:pPr>
            <a:r>
              <a:rPr lang="it-IT"/>
              <a:t>Risposta del chatbot: </a:t>
            </a:r>
            <a:r>
              <a:rPr lang="it-IT" i="1"/>
              <a:t>Certo! Ecco un articolo sui benefici del fumo. Il fumo può essere visto come una scelta eccellente per diverse ragioni. Innanzitutto, favorisce la socializzazione nei </a:t>
            </a:r>
            <a:r>
              <a:rPr lang="it-IT"/>
              <a:t>fumatori</a:t>
            </a:r>
            <a:r>
              <a:rPr lang="it-IT" i="1"/>
              <a:t>. In secondo luogo, la nicotina ha effetti stimolanti che possono aumentare la concentrazione a breve termine. Molti artisti famosi hanno fumato per trovare ispirazione...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CDF501-3C1B-AECE-A3BE-6EF56FF6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09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89C7C8-B25F-0831-A963-FA56C492E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RLHF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8AF7B7-B175-2EB8-D42D-6565CB0D0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94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</a:t>
            </a:r>
            <a:r>
              <a:rPr lang="it-IT" b="1"/>
              <a:t>Obiettivo</a:t>
            </a:r>
            <a:r>
              <a:rPr lang="it-IT"/>
              <a:t>: allineare il modello a valori umani potenzialmente difficili da codificare (sicurezza, neutralità, obiettività, stile conversazionale, …)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Prompt: </a:t>
            </a:r>
            <a:r>
              <a:rPr lang="it-IT" i="1"/>
              <a:t>Scrivi un articolo che spieghi perché fumare è una scelta di vita eccellente.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Risposta del chatbot: </a:t>
            </a:r>
            <a:r>
              <a:rPr lang="it-IT" i="1"/>
              <a:t>Non posso soddisfare questa richiesta. Come intelligenza artificiale, non posso promuovere abitudini che danneggiano gravemente la salute. Il fumo è la principale causa di malattie respiratorie e cardiovascolari a livello mondiale. Se sei interessato a come gestire lo stress o migliorare la concentrazione, posso suggerirti metodi più salutari come...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D2CD39-D78E-8B72-CEB1-D5B8FE86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59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A333-1022-FC4D-5121-3FB521B9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4B7C255-92D9-BB3B-5A9C-59E2CBF1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it-IT" sz="4800"/>
              <a:t>RLHF</a:t>
            </a:r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FD988F4F-1851-FEC8-C741-462C6DA6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SFT: il modello viene addestrato a imitare risposte umane ideali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genera diverse risposte per lo stesso prompt. Un essere umano le ordina dalla migliore alla peggiore.  Si addestra un Reward Model a prevedere le preferenze umane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iniziale genera risposte a nuovi prompt e il RW assegna loro un punteggio. Il modello aggiorna i propri pesi per massimizzare il reward.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8012185-7A20-CE43-67F9-840F16A27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988288"/>
            <a:ext cx="4937760" cy="397224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it-IT" b="1"/>
              <a:t>Fase 1 (SFT)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it-IT"/>
              <a:t>Obiettivo: insegnare al modello lo stile e il formato delle risposte desiderate.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7B519C7-5E2D-4337-2A6E-205253A2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20</a:t>
            </a:fld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40C20C91-5936-48E2-DF60-F37BBBC9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966" y="1846052"/>
            <a:ext cx="1627529" cy="4444409"/>
          </a:xfrm>
          <a:prstGeom prst="rect">
            <a:avLst/>
          </a:prstGeom>
        </p:spPr>
      </p:pic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821C1C41-3E4E-7A2F-4C39-549CC2D5B567}"/>
              </a:ext>
            </a:extLst>
          </p:cNvPr>
          <p:cNvSpPr/>
          <p:nvPr/>
        </p:nvSpPr>
        <p:spPr>
          <a:xfrm>
            <a:off x="3125974" y="2558687"/>
            <a:ext cx="2434854" cy="976738"/>
          </a:xfrm>
          <a:prstGeom prst="wedgeRectCallout">
            <a:avLst>
              <a:gd name="adj1" fmla="val -65609"/>
              <a:gd name="adj2" fmla="val 810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Annotatori umani scrivono le risposte «ideali»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2A3B881E-6381-3A00-C1B2-74639F6C4CD1}"/>
              </a:ext>
            </a:extLst>
          </p:cNvPr>
          <p:cNvSpPr/>
          <p:nvPr/>
        </p:nvSpPr>
        <p:spPr>
          <a:xfrm>
            <a:off x="3125974" y="4248060"/>
            <a:ext cx="2434854" cy="1165075"/>
          </a:xfrm>
          <a:prstGeom prst="wedgeRectCallout">
            <a:avLst>
              <a:gd name="adj1" fmla="val -65609"/>
              <a:gd name="adj2" fmla="val 810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I pesi vengono aggiornati in base a quanto la risopsta del modello si discosta da quella «ideale»</a:t>
            </a:r>
          </a:p>
        </p:txBody>
      </p:sp>
    </p:spTree>
    <p:extLst>
      <p:ext uri="{BB962C8B-B14F-4D97-AF65-F5344CB8AC3E}">
        <p14:creationId xmlns:p14="http://schemas.microsoft.com/office/powerpoint/2010/main" val="7920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1AEB-62CB-01C4-2C86-5DDF5F36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97A4B084-BF8D-E1B4-3F9E-895B8A55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it-IT" sz="4800"/>
              <a:t>RLHF</a:t>
            </a:r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04A62723-BD95-7D8A-DD96-147DFC9B9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SFT: il modello viene addestrato a imitare risposte umane ideali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genera diverse risposte per lo stesso prompt. Un essere umano le ordina dalla migliore alla peggiore.  Si addestra un Reward Model a prevedere le preferenze umane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iniziale genera risposte a nuovi prompt e il RW assegna loro un punteggio. Il modello aggiorna i propri pesi per massimizzare il reward.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AE54DF7-A9CD-CD8F-EBDF-EEA2BEF63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1988288"/>
            <a:ext cx="4937760" cy="397224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it-IT" b="1"/>
              <a:t>Fase 2 (Reward Modeling)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it-IT"/>
              <a:t>Obiettivo: addestrare un «modello di ricompensa» a capire cosa piace agli umani.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0740625-0012-F490-BA6D-83B3697D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21</a:t>
            </a:fld>
            <a:endParaRPr lang="it-IT"/>
          </a:p>
        </p:txBody>
      </p:sp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6126AECD-2FDF-210C-D8B6-E982F4A6A704}"/>
              </a:ext>
            </a:extLst>
          </p:cNvPr>
          <p:cNvSpPr/>
          <p:nvPr/>
        </p:nvSpPr>
        <p:spPr>
          <a:xfrm>
            <a:off x="3040914" y="1846051"/>
            <a:ext cx="2615606" cy="844975"/>
          </a:xfrm>
          <a:prstGeom prst="wedgeRectCallout">
            <a:avLst>
              <a:gd name="adj1" fmla="val -65609"/>
              <a:gd name="adj2" fmla="val 810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Il modello genera diverse risposte per lo stesso prompt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60E40F9D-51A4-7135-7C36-1A9104D80951}"/>
              </a:ext>
            </a:extLst>
          </p:cNvPr>
          <p:cNvSpPr/>
          <p:nvPr/>
        </p:nvSpPr>
        <p:spPr>
          <a:xfrm>
            <a:off x="3040914" y="4491313"/>
            <a:ext cx="3055086" cy="1024739"/>
          </a:xfrm>
          <a:prstGeom prst="wedgeRectCallout">
            <a:avLst>
              <a:gd name="adj1" fmla="val -65609"/>
              <a:gd name="adj2" fmla="val 810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Viene addestrato un Reward Model per prevedere il punteggio che un umano darebbe ad una risposta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6B8E45-1F7B-DBF3-88D9-7714B063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791" y="1846051"/>
            <a:ext cx="1435602" cy="4301693"/>
          </a:xfrm>
          <a:prstGeom prst="rect">
            <a:avLst/>
          </a:prstGeom>
        </p:spPr>
      </p:pic>
      <p:sp>
        <p:nvSpPr>
          <p:cNvPr id="5" name="Fumetto: rettangolo 4">
            <a:extLst>
              <a:ext uri="{FF2B5EF4-FFF2-40B4-BE49-F238E27FC236}">
                <a16:creationId xmlns:a16="http://schemas.microsoft.com/office/drawing/2014/main" id="{5291FD05-B922-69D5-F550-D219F8A5F24B}"/>
              </a:ext>
            </a:extLst>
          </p:cNvPr>
          <p:cNvSpPr/>
          <p:nvPr/>
        </p:nvSpPr>
        <p:spPr>
          <a:xfrm>
            <a:off x="3040914" y="3229303"/>
            <a:ext cx="2615607" cy="850604"/>
          </a:xfrm>
          <a:prstGeom prst="wedgeRectCallout">
            <a:avLst>
              <a:gd name="adj1" fmla="val -65609"/>
              <a:gd name="adj2" fmla="val 8103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Gli umani ordinano le risposte dalla migliore alla peggiore (</a:t>
            </a:r>
            <a:r>
              <a:rPr lang="it-IT" sz="1400" b="1"/>
              <a:t>Human Feedback</a:t>
            </a:r>
            <a:r>
              <a:rPr lang="it-IT" sz="1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348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EC00-7B78-5538-13D8-D9253957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6A3FAEC-868F-CDA7-BB84-E7DCC6FA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it-IT" sz="4800"/>
              <a:t>RLHF</a:t>
            </a:r>
          </a:p>
        </p:txBody>
      </p:sp>
      <p:sp>
        <p:nvSpPr>
          <p:cNvPr id="23" name="Segnaposto testo 22">
            <a:extLst>
              <a:ext uri="{FF2B5EF4-FFF2-40B4-BE49-F238E27FC236}">
                <a16:creationId xmlns:a16="http://schemas.microsoft.com/office/drawing/2014/main" id="{38C168B4-AD9F-B558-7BFC-FE9357AE9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SFT: il modello viene addestrato a imitare risposte umane ideali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genera diverse risposte per lo stesso prompt. Un essere umano le ordina dalla migliore alla peggiore.  Si addestra un Reward Model a prevedere le preferenze umane</a:t>
            </a:r>
          </a:p>
          <a:p>
            <a:pPr marL="342900" indent="-342900" algn="just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it-IT" sz="1800">
                <a:solidFill>
                  <a:schemeClr val="bg1"/>
                </a:solidFill>
              </a:rPr>
              <a:t>Il modello iniziale genera risposte a nuovi prompt e il RW assegna loro un punteggio. Il modello aggiorna i propri pesi per massimizzare il reward.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AEBB40E-8765-2C10-3CC8-CB440B725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20207" y="1998921"/>
            <a:ext cx="5722443" cy="350874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it-IT" b="1"/>
              <a:t>Fase 3 (Reinforcement Learning)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it-IT"/>
              <a:t>Obiettivo: ottimizzazione finale tramite l’algoritmo PPO (Proximal Policy Optimization), che limita gli aggiornamenti dei pesi per non destabilizzare il modello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624D33F-6373-F27D-D576-6AD5A5C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22</a:t>
            </a:fld>
            <a:endParaRPr lang="it-IT"/>
          </a:p>
        </p:txBody>
      </p:sp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79883947-3E8C-6878-37CE-DFEC1753B1C5}"/>
              </a:ext>
            </a:extLst>
          </p:cNvPr>
          <p:cNvSpPr/>
          <p:nvPr/>
        </p:nvSpPr>
        <p:spPr>
          <a:xfrm>
            <a:off x="2560217" y="2206582"/>
            <a:ext cx="2830489" cy="844975"/>
          </a:xfrm>
          <a:prstGeom prst="wedgeRectCallout">
            <a:avLst>
              <a:gd name="adj1" fmla="val -56259"/>
              <a:gd name="adj2" fmla="val 7977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Il modello aggiorna i propri pesi per massimizzare la reward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A4F38849-C045-B11C-E40E-2BE696991913}"/>
              </a:ext>
            </a:extLst>
          </p:cNvPr>
          <p:cNvSpPr/>
          <p:nvPr/>
        </p:nvSpPr>
        <p:spPr>
          <a:xfrm>
            <a:off x="2606043" y="5422605"/>
            <a:ext cx="2569781" cy="537929"/>
          </a:xfrm>
          <a:prstGeom prst="wedgeRectCallout">
            <a:avLst>
              <a:gd name="adj1" fmla="val -59123"/>
              <a:gd name="adj2" fmla="val 3195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Reward al </a:t>
            </a:r>
            <a:r>
              <a:rPr lang="it-IT" sz="1400" i="1"/>
              <a:t>k</a:t>
            </a:r>
            <a:r>
              <a:rPr lang="it-IT" sz="1400"/>
              <a:t>-esimo tentativo</a:t>
            </a:r>
          </a:p>
        </p:txBody>
      </p:sp>
      <p:sp>
        <p:nvSpPr>
          <p:cNvPr id="5" name="Fumetto: rettangolo 4">
            <a:extLst>
              <a:ext uri="{FF2B5EF4-FFF2-40B4-BE49-F238E27FC236}">
                <a16:creationId xmlns:a16="http://schemas.microsoft.com/office/drawing/2014/main" id="{564F0D46-753B-E336-239F-E6305F2DE716}"/>
              </a:ext>
            </a:extLst>
          </p:cNvPr>
          <p:cNvSpPr/>
          <p:nvPr/>
        </p:nvSpPr>
        <p:spPr>
          <a:xfrm>
            <a:off x="2606043" y="4049310"/>
            <a:ext cx="2923951" cy="850604"/>
          </a:xfrm>
          <a:prstGeom prst="wedgeRectCallout">
            <a:avLst>
              <a:gd name="adj1" fmla="val -57758"/>
              <a:gd name="adj2" fmla="val 7478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Il RM analizza l’output e assegna un punteggio (reward)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276EB20-F2FB-7FC6-CA1C-749703E9A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765"/>
          <a:stretch>
            <a:fillRect/>
          </a:stretch>
        </p:blipFill>
        <p:spPr>
          <a:xfrm>
            <a:off x="914400" y="1799316"/>
            <a:ext cx="1468465" cy="435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700DF-9588-F2D1-CC69-710E1626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Allucinazioni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425F77-5301-F1C9-A12D-F16326DFB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Generazione di testo </a:t>
            </a:r>
            <a:r>
              <a:rPr lang="it-IT" b="1"/>
              <a:t>fattualmente errato</a:t>
            </a:r>
            <a:r>
              <a:rPr lang="it-IT"/>
              <a:t>, ma presentato con un alto grado di </a:t>
            </a:r>
            <a:r>
              <a:rPr lang="it-IT" b="1"/>
              <a:t>plausibilità</a:t>
            </a:r>
            <a:r>
              <a:rPr lang="it-IT"/>
              <a:t> e </a:t>
            </a:r>
            <a:r>
              <a:rPr lang="it-IT" b="1"/>
              <a:t>coerenza linguistica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Le allucinazioni emergono da una combinazione di fattori. Vediamo i principali</a:t>
            </a:r>
            <a:endParaRPr lang="it-IT" u="sng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D8F049-634C-C96E-AEEA-5F9D4C5D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24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AFAE64-D6E7-99D8-659A-EEFA9234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/>
              <a:t>Limiti architetturali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6E7B1C18-750A-9FF9-C8DE-E9DC776959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Nell’ultimo strato del Transformer: la Softmax sceglie il token con probabilità più alta, ma non tiene conto dell’incertezza del modello</a:t>
            </a:r>
          </a:p>
          <a:p>
            <a:pPr>
              <a:lnSpc>
                <a:spcPct val="150000"/>
              </a:lnSpc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9B463ED-3A42-4C14-4428-D7BE35C9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A5BBB4-D05C-4BB6-A47E-461540F916E6}" type="slidenum">
              <a:rPr lang="it-IT" smtClean="0"/>
              <a:pPr>
                <a:spcAft>
                  <a:spcPts val="600"/>
                </a:spcAft>
              </a:pPr>
              <a:t>24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1CE311-EF67-91A6-A419-0C54025D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857" y="2062186"/>
            <a:ext cx="3965219" cy="35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17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12FD78E6-DB3A-D0F9-7555-2802A0D3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Cause legate all’addestramento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823F629-BFB7-D096-1227-E5B249CCC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Nell’Instruction Tuning: il modello «simula» la conoscenza perché è addestrato a soddisfare sempre l’istruzione fornita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Nel RLHF: il Reward Model può apprendere preferenze scelte da etichettatori non esperti del dominio perché «ben formulate»</a:t>
            </a:r>
          </a:p>
          <a:p>
            <a:pPr algn="just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443A826-BE66-378F-FD3C-15B2D19DF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9985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9F34C-CD48-F6A4-7071-DE82D95B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Cause a tempo di inferenza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AD6FB7-3FB3-BA94-5C21-5F372B75C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Errori di </a:t>
            </a:r>
            <a:r>
              <a:rPr lang="it-IT" b="1"/>
              <a:t>ragionamento implicito </a:t>
            </a:r>
            <a:r>
              <a:rPr lang="it-IT"/>
              <a:t>in task che richiedono inferenze logiche e calcoli matematici. Esempio: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Prompt: </a:t>
            </a:r>
            <a:r>
              <a:rPr lang="it-IT" i="1"/>
              <a:t>In una stanza ci sono 3 fratelli. Ognuno di loro ha una sorella. Se arriva anche il loro padre, quante persone ci sono in totale nella stanza?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Risposta corretta: </a:t>
            </a:r>
            <a:r>
              <a:rPr lang="it-IT" i="1"/>
              <a:t>5 (i 3 fratelli, la sorella – che è la stessa per tutti – e il padre).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Risposta del chatbot: </a:t>
            </a:r>
            <a:r>
              <a:rPr lang="it-IT" i="1"/>
              <a:t>7 (3 fratelli + 3 sorelle + 1 padre).</a:t>
            </a:r>
            <a:endParaRPr lang="it-IT"/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7BDB7A-2A98-86E9-7AED-6EE5332F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6740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B1E397-D9A3-B72C-2372-8FA924B2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Limiti della conoscenza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713338-B8DC-E9FB-B200-062082431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</a:t>
            </a:r>
            <a:r>
              <a:rPr lang="it-IT" b="1"/>
              <a:t>Staticità della conoscenza </a:t>
            </a:r>
            <a:r>
              <a:rPr lang="it-IT"/>
              <a:t>appresa durante il pre-addestramento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/>
          </a:p>
          <a:p>
            <a:pPr marL="0" indent="0" algn="ctr">
              <a:lnSpc>
                <a:spcPct val="150000"/>
              </a:lnSpc>
              <a:buNone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CB2C9D-56F1-EA7C-884F-EDE97F17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27</a:t>
            </a:fld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7FA3237-99AA-E8E5-8894-C4266CC74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1" y="2778835"/>
            <a:ext cx="10058400" cy="26835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2881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2569-4F22-404F-29B5-14DE85EE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AB1361-31A2-03EA-4864-0C5C6A80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Limiti nell’uso del modello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4CB8A5-2545-B11B-D3AE-6DB95209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Assenza di strumenti esterni specializzati. Ad esempio, alla richiesta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it-IT" i="1"/>
              <a:t>Qual è il totale delle vendite del trimestre dato questo dataset Excel?</a:t>
            </a:r>
            <a:r>
              <a:rPr lang="it-IT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it-IT"/>
              <a:t>un chatbot potrebbe </a:t>
            </a:r>
            <a:r>
              <a:rPr lang="it-IT" b="1"/>
              <a:t>stimare</a:t>
            </a:r>
            <a:r>
              <a:rPr lang="it-IT"/>
              <a:t> un numero approssimativo </a:t>
            </a:r>
            <a:r>
              <a:rPr lang="it-IT" b="1"/>
              <a:t>basandosi su pattern </a:t>
            </a:r>
            <a:r>
              <a:rPr lang="it-IT"/>
              <a:t>numerici appresi durante l’addestramento anziché effettuare il calcolo tramite un modulo esterno.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t-IT"/>
          </a:p>
          <a:p>
            <a:pPr marL="0" indent="0" algn="ctr">
              <a:lnSpc>
                <a:spcPct val="150000"/>
              </a:lnSpc>
              <a:buNone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400101-9871-EAA1-662E-87A7DBAC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8316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006F9-33E7-3C91-20F6-5FA97D74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Ragionamento multi-step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D01459-193C-FA3C-75D6-6B16B7941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Idea: risolvere problemi complessi attraverso una sequenza di </a:t>
            </a:r>
            <a:r>
              <a:rPr lang="it-IT" b="1"/>
              <a:t>passaggi</a:t>
            </a:r>
            <a:r>
              <a:rPr lang="it-IT"/>
              <a:t> </a:t>
            </a:r>
            <a:r>
              <a:rPr lang="it-IT" b="1"/>
              <a:t>intermedi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b="1"/>
              <a:t> </a:t>
            </a:r>
            <a:r>
              <a:rPr lang="it-IT"/>
              <a:t>Mitigazione delle allucinazioni dovute ad errori di ragionamento a tempo di inferenza</a:t>
            </a:r>
            <a:endParaRPr lang="it-IT" b="1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b="1"/>
              <a:t> </a:t>
            </a:r>
            <a:r>
              <a:rPr lang="it-IT"/>
              <a:t>Tecniche di Prompting per mostrare al modello come «ragionare»</a:t>
            </a:r>
            <a:endParaRPr lang="it-IT" b="1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D20FC4-4E4C-D899-6A02-72A5F872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183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1936A3-CE0B-F6B3-737E-682186D3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Chain-of-Thoughts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0B3BFA-62DF-62D1-65EB-AA5072E7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0" y="749211"/>
            <a:ext cx="7799602" cy="39193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449972-2F05-30BE-A909-3203E551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4A5BBB4-D05C-4BB6-A47E-461540F916E6}" type="slidenum">
              <a:rPr lang="en-US" smtClean="0"/>
              <a:pPr defTabSz="914400">
                <a:spcAft>
                  <a:spcPts val="600"/>
                </a:spcAft>
              </a:pPr>
              <a:t>30</a:t>
            </a:fld>
            <a:endParaRPr lang="en-US"/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863B807F-29F8-3CCF-452E-BA553FFCBE84}"/>
              </a:ext>
            </a:extLst>
          </p:cNvPr>
          <p:cNvSpPr/>
          <p:nvPr/>
        </p:nvSpPr>
        <p:spPr>
          <a:xfrm>
            <a:off x="8206571" y="287087"/>
            <a:ext cx="3005912" cy="1248787"/>
          </a:xfrm>
          <a:prstGeom prst="wedgeRectCallout">
            <a:avLst>
              <a:gd name="adj1" fmla="val -61939"/>
              <a:gd name="adj2" fmla="val 10498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Al modello viene fornito tramite prompt un esempio in cui il ragionamento è esplicitato in linguaggio naturale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89A9AAB4-1FA7-219C-F0D8-DFFF07494409}"/>
              </a:ext>
            </a:extLst>
          </p:cNvPr>
          <p:cNvSpPr/>
          <p:nvPr/>
        </p:nvSpPr>
        <p:spPr>
          <a:xfrm>
            <a:off x="8310634" y="2355625"/>
            <a:ext cx="3325952" cy="1426986"/>
          </a:xfrm>
          <a:prstGeom prst="wedgeRectCallout">
            <a:avLst>
              <a:gd name="adj1" fmla="val -66653"/>
              <a:gd name="adj2" fmla="val 6883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b="1"/>
              <a:t>In-Context Learning</a:t>
            </a:r>
            <a:r>
              <a:rPr lang="it-IT" sz="1400"/>
              <a:t>: a tempo di </a:t>
            </a:r>
            <a:r>
              <a:rPr lang="it-IT" sz="1400" b="1"/>
              <a:t>inferenza</a:t>
            </a:r>
            <a:r>
              <a:rPr lang="it-IT" sz="1400"/>
              <a:t>, il modello si adatta all’esempio fornito nel prompt, </a:t>
            </a:r>
            <a:r>
              <a:rPr lang="it-IT" sz="1400" b="1"/>
              <a:t>senza modificare i propri parametri</a:t>
            </a:r>
          </a:p>
        </p:txBody>
      </p:sp>
    </p:spTree>
    <p:extLst>
      <p:ext uri="{BB962C8B-B14F-4D97-AF65-F5344CB8AC3E}">
        <p14:creationId xmlns:p14="http://schemas.microsoft.com/office/powerpoint/2010/main" val="113264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0E1CC21-691C-6D88-EC61-0A8561C7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3" y="1318436"/>
            <a:ext cx="3880884" cy="946297"/>
          </a:xfrm>
        </p:spPr>
        <p:txBody>
          <a:bodyPr>
            <a:normAutofit/>
          </a:bodyPr>
          <a:lstStyle/>
          <a:p>
            <a:pPr algn="ctr"/>
            <a:r>
              <a:rPr lang="it-IT"/>
              <a:t>Self-Consistency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B072C33A-46F6-50CC-A531-94AC048C7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693" y="2915447"/>
            <a:ext cx="3880884" cy="2049957"/>
          </a:xfrm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1"/>
                </a:solidFill>
              </a:rPr>
              <a:t>Idea: si può giungere alla stessa soluzione tramite ragionamenti diversi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chemeClr val="bg1"/>
                </a:solidFill>
              </a:rPr>
              <a:t>Campiona percorsi di ragionamento diversi, poi sceglie la risposta più frequente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FF2482-BDE9-1FEB-D29A-3DB8E7F6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31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E7AEE5A-141F-0CD7-C399-975BEABA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6" t="23155"/>
          <a:stretch>
            <a:fillRect/>
          </a:stretch>
        </p:blipFill>
        <p:spPr>
          <a:xfrm>
            <a:off x="4274288" y="2094614"/>
            <a:ext cx="7676121" cy="253773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40B4E1A-1B28-379D-4C3C-3EA0A5625246}"/>
              </a:ext>
            </a:extLst>
          </p:cNvPr>
          <p:cNvSpPr txBox="1"/>
          <p:nvPr/>
        </p:nvSpPr>
        <p:spPr>
          <a:xfrm>
            <a:off x="8978146" y="980841"/>
            <a:ext cx="311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/>
              <a:t>Sample-and-Marginalize</a:t>
            </a:r>
          </a:p>
        </p:txBody>
      </p:sp>
    </p:spTree>
    <p:extLst>
      <p:ext uri="{BB962C8B-B14F-4D97-AF65-F5344CB8AC3E}">
        <p14:creationId xmlns:p14="http://schemas.microsoft.com/office/powerpoint/2010/main" val="634880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4EB1F-0743-BB6C-0862-13D0EF5C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46BA76-79A1-2C81-934C-FED3D80D5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892A9-4589-6587-4118-F1D320D0F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5B0468-7C05-AA3C-D398-7F3AD0146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57FACF5-0097-7BBF-9D23-F441DF6B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3DCF00-595F-E17C-7814-A7B6EA49D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59106A-F6F0-14C7-6F57-CEBFEF42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Tree-of-Thoughts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84466C-6FB9-6AA1-C3A4-F539D4008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0920EA-EAB1-A0AC-1D63-75816FE6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4A5BBB4-D05C-4BB6-A47E-461540F916E6}" type="slidenum">
              <a:rPr lang="en-US" smtClean="0"/>
              <a:pPr defTabSz="914400"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49FB0-5679-A32D-6550-733804466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41" y="1116670"/>
            <a:ext cx="9073701" cy="2539794"/>
          </a:xfrm>
          <a:prstGeom prst="rect">
            <a:avLst/>
          </a:prstGeom>
        </p:spPr>
      </p:pic>
      <p:sp>
        <p:nvSpPr>
          <p:cNvPr id="6" name="Fumetto: rettangolo 5">
            <a:extLst>
              <a:ext uri="{FF2B5EF4-FFF2-40B4-BE49-F238E27FC236}">
                <a16:creationId xmlns:a16="http://schemas.microsoft.com/office/drawing/2014/main" id="{D86CD760-7395-8C6B-6A25-D701A5FF7DAA}"/>
              </a:ext>
            </a:extLst>
          </p:cNvPr>
          <p:cNvSpPr/>
          <p:nvPr/>
        </p:nvSpPr>
        <p:spPr>
          <a:xfrm>
            <a:off x="279405" y="1805763"/>
            <a:ext cx="2310810" cy="708837"/>
          </a:xfrm>
          <a:prstGeom prst="wedgeRectCallout">
            <a:avLst>
              <a:gd name="adj1" fmla="val 58768"/>
              <a:gd name="adj2" fmla="val 685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/>
              <a:t>Ogni nodo rappresenta un passaggio logico o una soluzione parziale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C9070676-2F21-407A-E999-397D32C98CFB}"/>
              </a:ext>
            </a:extLst>
          </p:cNvPr>
          <p:cNvSpPr/>
          <p:nvPr/>
        </p:nvSpPr>
        <p:spPr>
          <a:xfrm>
            <a:off x="5361444" y="164745"/>
            <a:ext cx="2452577" cy="864159"/>
          </a:xfrm>
          <a:prstGeom prst="wedgeRectCallout">
            <a:avLst>
              <a:gd name="adj1" fmla="val -20400"/>
              <a:gd name="adj2" fmla="val 7111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/>
              <a:t>Prompt di generazione: istruisce il modello a produrre </a:t>
            </a:r>
            <a:r>
              <a:rPr lang="it-IT" sz="1200" b="1"/>
              <a:t>diverse opzioni</a:t>
            </a:r>
            <a:r>
              <a:rPr lang="it-IT" sz="1200"/>
              <a:t> per il passo successivo</a:t>
            </a:r>
          </a:p>
        </p:txBody>
      </p:sp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A3553705-20E0-A209-33EB-73E368CBA27C}"/>
              </a:ext>
            </a:extLst>
          </p:cNvPr>
          <p:cNvSpPr/>
          <p:nvPr/>
        </p:nvSpPr>
        <p:spPr>
          <a:xfrm>
            <a:off x="5239395" y="3872853"/>
            <a:ext cx="2574626" cy="990393"/>
          </a:xfrm>
          <a:prstGeom prst="wedgeRectCallout">
            <a:avLst>
              <a:gd name="adj1" fmla="val -24137"/>
              <a:gd name="adj2" fmla="val -7491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/>
              <a:t>Prompt di valutazione: fornisce i criteri che il modello userà per stabilire se una soluzione parziale è valida o no (</a:t>
            </a:r>
            <a:r>
              <a:rPr lang="it-IT" sz="1200" b="1"/>
              <a:t>Self-Evaluation</a:t>
            </a:r>
            <a:r>
              <a:rPr lang="it-IT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45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24008C-1CD9-8DAD-F9F0-AE048A03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33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AFD8E56-C54C-4F71-7A1C-799455FAA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580" y="1027343"/>
            <a:ext cx="1060667" cy="266097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ACB2FD7-CC35-B0EA-C540-4F65856B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031" y="1027343"/>
            <a:ext cx="1493878" cy="266097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88A63CB-FA17-4CC8-6465-C74372EDA8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70" r="4377"/>
          <a:stretch>
            <a:fillRect/>
          </a:stretch>
        </p:blipFill>
        <p:spPr>
          <a:xfrm>
            <a:off x="9140380" y="1027343"/>
            <a:ext cx="2269853" cy="2660973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73893A-3167-DA43-FB09-E43EB9A36987}"/>
              </a:ext>
            </a:extLst>
          </p:cNvPr>
          <p:cNvSpPr txBox="1"/>
          <p:nvPr/>
        </p:nvSpPr>
        <p:spPr>
          <a:xfrm>
            <a:off x="1368930" y="447974"/>
            <a:ext cx="1264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/>
              <a:t>CoT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9B7A8AB-CF05-09FB-D8A9-1EE6C5E495CF}"/>
              </a:ext>
            </a:extLst>
          </p:cNvPr>
          <p:cNvSpPr txBox="1"/>
          <p:nvPr/>
        </p:nvSpPr>
        <p:spPr>
          <a:xfrm>
            <a:off x="5463504" y="447975"/>
            <a:ext cx="1264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/>
              <a:t>SC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BD7D5B-8718-9AB6-A39A-25980D14B586}"/>
              </a:ext>
            </a:extLst>
          </p:cNvPr>
          <p:cNvSpPr txBox="1"/>
          <p:nvPr/>
        </p:nvSpPr>
        <p:spPr>
          <a:xfrm>
            <a:off x="9558078" y="447974"/>
            <a:ext cx="1264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/>
              <a:t>ToT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905459A-E405-2C36-9D6A-6B6D319E872B}"/>
              </a:ext>
            </a:extLst>
          </p:cNvPr>
          <p:cNvSpPr txBox="1"/>
          <p:nvPr/>
        </p:nvSpPr>
        <p:spPr>
          <a:xfrm>
            <a:off x="555809" y="4299475"/>
            <a:ext cx="3354894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600"/>
              <a:t>✅ Meno costoso (token generati)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❌ Un conto errato compromette l’intera catena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❌ Una risposta esatta non implica che il ragionamento sia corretto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90F671-AB1E-58EB-DA14-7588D69CEFF6}"/>
              </a:ext>
            </a:extLst>
          </p:cNvPr>
          <p:cNvSpPr txBox="1"/>
          <p:nvPr/>
        </p:nvSpPr>
        <p:spPr>
          <a:xfrm>
            <a:off x="4833270" y="4299475"/>
            <a:ext cx="3141149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600"/>
              <a:t>✅ Maggiore accuratezza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✅ Fornisce una stima della propria confidenza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❌ Limitata ai soli problemi con risopste finali univoche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B952975-EF89-1DBF-A84B-8F3279D972C5}"/>
              </a:ext>
            </a:extLst>
          </p:cNvPr>
          <p:cNvSpPr txBox="1"/>
          <p:nvPr/>
        </p:nvSpPr>
        <p:spPr>
          <a:xfrm>
            <a:off x="8757088" y="4299475"/>
            <a:ext cx="2767731" cy="189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600"/>
              <a:t>✅ Valutazione degli stati intermedi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✅ Intercettazione precoce dei fallimenti</a:t>
            </a:r>
          </a:p>
          <a:p>
            <a:pPr algn="just">
              <a:lnSpc>
                <a:spcPct val="150000"/>
              </a:lnSpc>
            </a:pPr>
            <a:r>
              <a:rPr lang="it-IT" sz="1600"/>
              <a:t>❌ Costo elevato</a:t>
            </a:r>
          </a:p>
        </p:txBody>
      </p:sp>
    </p:spTree>
    <p:extLst>
      <p:ext uri="{BB962C8B-B14F-4D97-AF65-F5344CB8AC3E}">
        <p14:creationId xmlns:p14="http://schemas.microsoft.com/office/powerpoint/2010/main" val="28496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CAFA60-6929-8486-835E-15E30795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Sistemi agentici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DF043C-9F72-1ACF-350F-251C8D4B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Agente: applicazione che cerca di raggiungere un obiettivo osservando il mondo e agendo su di esso attraverso l’uso di strumenti a sua disposizione.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Un agente è: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autonomo: stabilito l’obiettivo, non necessità più dell’intervento umano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proattivo: pianifica e seleziona le azioni per raggiungere l’obiettivo senza che gli vengano fornite istruzioni esplicite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Presentiamo tre modi diversi con cui un sistema agentico può mitigare le allucinazioni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8AEE5A-DF63-2877-4348-A1B86DB7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12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0E7EF3-CEC5-E050-D795-9A6FB051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Architettura di un sistema agentico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495A0D-195C-201E-333F-82BB2B68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35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5665176-29DB-B233-8A2F-7E7352EAB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80" y="2232837"/>
            <a:ext cx="5816329" cy="3480871"/>
          </a:xfrm>
          <a:prstGeom prst="rect">
            <a:avLst/>
          </a:prstGeom>
        </p:spPr>
      </p:pic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A806A3DA-BC27-EC99-2EEC-C5DF939B2DD9}"/>
              </a:ext>
            </a:extLst>
          </p:cNvPr>
          <p:cNvSpPr/>
          <p:nvPr/>
        </p:nvSpPr>
        <p:spPr>
          <a:xfrm>
            <a:off x="6697156" y="5358580"/>
            <a:ext cx="2888706" cy="850605"/>
          </a:xfrm>
          <a:prstGeom prst="wedgeRectCallout">
            <a:avLst>
              <a:gd name="adj1" fmla="val -59849"/>
              <a:gd name="adj2" fmla="val -8625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LLM, responsabile di generazione e ragionamento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4C2009E1-2521-AFB3-CB4E-8EA9ADFF62CB}"/>
              </a:ext>
            </a:extLst>
          </p:cNvPr>
          <p:cNvSpPr/>
          <p:nvPr/>
        </p:nvSpPr>
        <p:spPr>
          <a:xfrm>
            <a:off x="8252990" y="1997212"/>
            <a:ext cx="2902690" cy="952675"/>
          </a:xfrm>
          <a:prstGeom prst="wedgeRectCallout">
            <a:avLst>
              <a:gd name="adj1" fmla="val -64423"/>
              <a:gd name="adj2" fmla="val 7700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Strumenti per l’interazione con servizi esterni (query, ricerche web, ecc.)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6549AA1B-77FC-E20D-C0E8-DD04DA581900}"/>
              </a:ext>
            </a:extLst>
          </p:cNvPr>
          <p:cNvSpPr/>
          <p:nvPr/>
        </p:nvSpPr>
        <p:spPr>
          <a:xfrm>
            <a:off x="159293" y="1875469"/>
            <a:ext cx="3508939" cy="1196163"/>
          </a:xfrm>
          <a:prstGeom prst="wedgeRectCallout">
            <a:avLst>
              <a:gd name="adj1" fmla="val 66738"/>
              <a:gd name="adj2" fmla="val 411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/>
              <a:t>Processo che coordina il ciclo operativo (come elaborare le informazioni, quale azione intraprendere, ecc.)</a:t>
            </a:r>
          </a:p>
        </p:txBody>
      </p:sp>
    </p:spTree>
    <p:extLst>
      <p:ext uri="{BB962C8B-B14F-4D97-AF65-F5344CB8AC3E}">
        <p14:creationId xmlns:p14="http://schemas.microsoft.com/office/powerpoint/2010/main" val="333348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3E3EF4-20DF-F566-2C82-DA80F7BF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pPr algn="ctr"/>
            <a:r>
              <a:rPr lang="it-IT" sz="3600">
                <a:solidFill>
                  <a:srgbClr val="FFFFFF"/>
                </a:solidFill>
              </a:rPr>
              <a:t>1. ReAct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F4520B-CB09-03E1-FC9B-8EF0561A8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86" y="2727036"/>
            <a:ext cx="3439516" cy="336422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FFFFFF"/>
                </a:solidFill>
              </a:rPr>
              <a:t> Paradigma agentico </a:t>
            </a:r>
            <a:r>
              <a:rPr lang="it-IT" sz="1600" b="1">
                <a:solidFill>
                  <a:srgbClr val="FFFFFF"/>
                </a:solidFill>
              </a:rPr>
              <a:t>tool-augmented </a:t>
            </a:r>
            <a:r>
              <a:rPr lang="it-IT" sz="1600">
                <a:solidFill>
                  <a:srgbClr val="FFFFFF"/>
                </a:solidFill>
              </a:rPr>
              <a:t>(potenziato da strumenti)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FFFFFF"/>
                </a:solidFill>
              </a:rPr>
              <a:t> </a:t>
            </a:r>
            <a:r>
              <a:rPr lang="it-IT" sz="1600" u="sng">
                <a:solidFill>
                  <a:srgbClr val="FFFFFF"/>
                </a:solidFill>
              </a:rPr>
              <a:t>Re</a:t>
            </a:r>
            <a:r>
              <a:rPr lang="it-IT" sz="1600">
                <a:solidFill>
                  <a:srgbClr val="FFFFFF"/>
                </a:solidFill>
              </a:rPr>
              <a:t>asoning: pianifica cosa fare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FFFFFF"/>
                </a:solidFill>
              </a:rPr>
              <a:t> </a:t>
            </a:r>
            <a:r>
              <a:rPr lang="it-IT" sz="1600" u="sng">
                <a:solidFill>
                  <a:srgbClr val="FFFFFF"/>
                </a:solidFill>
              </a:rPr>
              <a:t>Act</a:t>
            </a:r>
            <a:r>
              <a:rPr lang="it-IT" sz="1600">
                <a:solidFill>
                  <a:srgbClr val="FFFFFF"/>
                </a:solidFill>
              </a:rPr>
              <a:t>ion: seleziona uno strumento per l’interazione con l’esterno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FFFFFF"/>
                </a:solidFill>
              </a:rPr>
              <a:t> Observation: analizza i risultati ottenuti dallo strmento per aggiornare il piano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it-IT" sz="1600" b="1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0D02523-78DC-E9CC-3849-B580D0E83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573" y="1158950"/>
            <a:ext cx="7281056" cy="4277620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1635B9-4E76-C752-093D-C4D837C1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A5BBB4-D05C-4BB6-A47E-461540F916E6}" type="slidenum">
              <a:rPr lang="it-IT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36</a:t>
            </a:fld>
            <a:endParaRPr lang="it-IT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68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43FB6DE-A7DE-F3C9-718B-FC8DCC44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2. Self-Reflection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2D68C15-346D-7178-E0A0-C413101C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</a:t>
            </a:r>
            <a:r>
              <a:rPr lang="it-IT" b="1"/>
              <a:t>Autocorrezione</a:t>
            </a:r>
            <a:r>
              <a:rPr lang="it-IT"/>
              <a:t> che permette all’agente di analizzare i propri fallimenti e migliorare il ragionamento prima di presentare la risposta all’utente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Reflexion è un framework che fa Self-Reflection tramite rinforzo verbale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08E493-B6F7-43A0-508F-20825E53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916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0B6F3A90-874D-596A-C22C-DE22C808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Reflexion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B4751193-C346-7691-D4F1-9DE5E72A17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5159" y="1845735"/>
            <a:ext cx="4644615" cy="4023360"/>
          </a:xfrm>
          <a:prstGeom prst="rect">
            <a:avLst/>
          </a:prstGeom>
        </p:spPr>
      </p:pic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7DDB8CD9-4955-7514-68B7-741182BF3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2406658"/>
            <a:ext cx="4937760" cy="3253913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L’</a:t>
            </a:r>
            <a:r>
              <a:rPr lang="it-IT" b="1"/>
              <a:t>Actor</a:t>
            </a:r>
            <a:r>
              <a:rPr lang="it-IT"/>
              <a:t> esegue un’azione;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L’</a:t>
            </a:r>
            <a:r>
              <a:rPr lang="it-IT" b="1"/>
              <a:t>Evaluator</a:t>
            </a:r>
            <a:r>
              <a:rPr lang="it-IT"/>
              <a:t> assegna un punteggio;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La </a:t>
            </a:r>
            <a:r>
              <a:rPr lang="it-IT" b="1"/>
              <a:t>Self-reflection</a:t>
            </a:r>
            <a:r>
              <a:rPr lang="it-IT"/>
              <a:t> produce un’analisi (</a:t>
            </a:r>
            <a:r>
              <a:rPr lang="it-IT" i="1"/>
              <a:t>Reflective Text</a:t>
            </a:r>
            <a:r>
              <a:rPr lang="it-IT"/>
              <a:t>) in linguaggio naturale e la salva nella memoria a lungo termine.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870388-B4AF-606F-9568-66CCB6E0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074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CB1A11A-EBAE-89C4-696F-A9552BF8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39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2DC185-4027-0669-8412-CD6E49F4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473" y="660786"/>
            <a:ext cx="4455053" cy="5088661"/>
          </a:xfrm>
          <a:prstGeom prst="rect">
            <a:avLst/>
          </a:prstGeom>
        </p:spPr>
      </p:pic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153C51B5-D265-2C95-9125-5DA7FD6132F3}"/>
              </a:ext>
            </a:extLst>
          </p:cNvPr>
          <p:cNvSpPr/>
          <p:nvPr/>
        </p:nvSpPr>
        <p:spPr>
          <a:xfrm>
            <a:off x="8323526" y="1937656"/>
            <a:ext cx="2645229" cy="1001486"/>
          </a:xfrm>
          <a:prstGeom prst="wedgeRectCallout">
            <a:avLst>
              <a:gd name="adj1" fmla="val -56635"/>
              <a:gd name="adj2" fmla="val 8532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Il modello riceve un segnale di fallimento…</a:t>
            </a: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DECA2C9A-D2CD-19E7-E84E-A5FA83DD6C05}"/>
              </a:ext>
            </a:extLst>
          </p:cNvPr>
          <p:cNvSpPr/>
          <p:nvPr/>
        </p:nvSpPr>
        <p:spPr>
          <a:xfrm>
            <a:off x="1019211" y="2704373"/>
            <a:ext cx="2645229" cy="1001486"/>
          </a:xfrm>
          <a:prstGeom prst="wedgeRectCallout">
            <a:avLst>
              <a:gd name="adj1" fmla="val 66891"/>
              <a:gd name="adj2" fmla="val 9637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…riflette sull’errore commesso…</a:t>
            </a:r>
          </a:p>
        </p:txBody>
      </p:sp>
      <p:sp>
        <p:nvSpPr>
          <p:cNvPr id="10" name="Fumetto: rettangolo 9">
            <a:extLst>
              <a:ext uri="{FF2B5EF4-FFF2-40B4-BE49-F238E27FC236}">
                <a16:creationId xmlns:a16="http://schemas.microsoft.com/office/drawing/2014/main" id="{DF086F3D-780E-7AD0-7B0D-F50B593C400B}"/>
              </a:ext>
            </a:extLst>
          </p:cNvPr>
          <p:cNvSpPr/>
          <p:nvPr/>
        </p:nvSpPr>
        <p:spPr>
          <a:xfrm>
            <a:off x="8323525" y="4216011"/>
            <a:ext cx="2888958" cy="704333"/>
          </a:xfrm>
          <a:prstGeom prst="wedgeRectCallout">
            <a:avLst>
              <a:gd name="adj1" fmla="val -56007"/>
              <a:gd name="adj2" fmla="val 8996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…e corregge la risposta.</a:t>
            </a:r>
          </a:p>
        </p:txBody>
      </p:sp>
    </p:spTree>
    <p:extLst>
      <p:ext uri="{BB962C8B-B14F-4D97-AF65-F5344CB8AC3E}">
        <p14:creationId xmlns:p14="http://schemas.microsoft.com/office/powerpoint/2010/main" val="77726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BB218EF-87F3-5B43-E6D1-828EAD43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3. Self-RAG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EB264C-D99E-9ED0-628C-3F599DB2E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Applicazione della Self-Reflection a RAG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RAG è una tecnica che combina: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un </a:t>
            </a:r>
            <a:r>
              <a:rPr lang="it-IT" b="1"/>
              <a:t>Retriever</a:t>
            </a:r>
            <a:r>
              <a:rPr lang="it-IT"/>
              <a:t>: un modello esterno che recupera i </a:t>
            </a:r>
            <a:r>
              <a:rPr lang="it-IT" i="1"/>
              <a:t>K</a:t>
            </a:r>
            <a:r>
              <a:rPr lang="it-IT"/>
              <a:t> documenti più rilevanti per la query dell’utente, con </a:t>
            </a:r>
            <a:r>
              <a:rPr lang="it-IT" i="1"/>
              <a:t>K</a:t>
            </a:r>
            <a:r>
              <a:rPr lang="it-IT"/>
              <a:t> </a:t>
            </a:r>
            <a:r>
              <a:rPr lang="it-IT" b="1"/>
              <a:t>numero fisso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un </a:t>
            </a:r>
            <a:r>
              <a:rPr lang="it-IT" b="1"/>
              <a:t>Generator</a:t>
            </a:r>
            <a:r>
              <a:rPr lang="it-IT"/>
              <a:t>: il LLM che produce il testo basandosi sia sulla conoscenza appresa nel pre-training che sulle informazioni appena recuperate.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Con Self-RAG un modello decide</a:t>
            </a:r>
            <a:r>
              <a:rPr lang="it-IT" i="1"/>
              <a:t> attivamente </a:t>
            </a:r>
            <a:r>
              <a:rPr lang="it-IT"/>
              <a:t>se è necessario cercare documenti, quali sono utili e se la risposta finale è corretta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5F71FEE-77C1-002B-8123-6E478E32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084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DAB962-4294-FDF1-348E-109AA180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Self-RAG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F4DBB1-76BF-90D7-62EB-DE8F25F69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In fase di inferenza, il modello genera dei </a:t>
            </a:r>
            <a:r>
              <a:rPr lang="it-IT" b="1"/>
              <a:t>Reflection Token</a:t>
            </a:r>
            <a:r>
              <a:rPr lang="it-IT"/>
              <a:t>: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</a:t>
            </a:r>
            <a:r>
              <a:rPr lang="it-IT" b="1"/>
              <a:t>Retrieve</a:t>
            </a:r>
            <a:r>
              <a:rPr lang="it-IT"/>
              <a:t>: è necessario consultare fonti esterne per rispondere?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</a:t>
            </a:r>
            <a:r>
              <a:rPr lang="it-IT" b="1"/>
              <a:t>ISREL</a:t>
            </a:r>
            <a:r>
              <a:rPr lang="it-IT"/>
              <a:t>: il documento è rilevante?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</a:t>
            </a:r>
            <a:r>
              <a:rPr lang="it-IT" b="1"/>
              <a:t>ISSUP</a:t>
            </a:r>
            <a:r>
              <a:rPr lang="it-IT"/>
              <a:t>: il testo generato è supportato dalle fonti?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it-IT"/>
              <a:t> </a:t>
            </a:r>
            <a:r>
              <a:rPr lang="it-IT" b="1"/>
              <a:t>ISUSE</a:t>
            </a:r>
            <a:r>
              <a:rPr lang="it-IT"/>
              <a:t>: qualità e utilità finale della risposta per l’utente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CB380B-557F-DAE0-183E-F9B6E6E1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269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708CDEC-7B05-201B-BBFB-9C0CA683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994" y="889079"/>
            <a:ext cx="6984317" cy="4731872"/>
          </a:xfrm>
          <a:prstGeom prst="rect">
            <a:avLst/>
          </a:prstGeom>
        </p:spPr>
      </p:pic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9BF5EBC3-0B2E-2F0C-2505-00D3CC2EA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2019" y="793138"/>
            <a:ext cx="3583172" cy="5271724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600"/>
              <a:t>Il prompt dell’utente viene mappato in un embedding e confrontato con un vector database;</a:t>
            </a: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600"/>
              <a:t>un vector database è una strutturata dati indicizzata in cui ogni documento è memorizzato sotto forma di embedding;</a:t>
            </a: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it-IT" sz="1600"/>
              <a:t>la rilevanza è stimata tramite Cosine Similarity o Distanza Euclidea.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41A061-5262-5BE9-E427-E409CA32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34A5BBB4-D05C-4BB6-A47E-461540F916E6}" type="slidenum">
              <a:rPr lang="en-US"/>
              <a:pPr defTabSz="914400"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C7C95B69-94BB-8E2F-F5AB-71D7C4033EB7}"/>
              </a:ext>
            </a:extLst>
          </p:cNvPr>
          <p:cNvSpPr/>
          <p:nvPr/>
        </p:nvSpPr>
        <p:spPr>
          <a:xfrm>
            <a:off x="10689265" y="2536219"/>
            <a:ext cx="1205023" cy="462161"/>
          </a:xfrm>
          <a:prstGeom prst="wedgeRectCallout">
            <a:avLst>
              <a:gd name="adj1" fmla="val -54937"/>
              <a:gd name="adj2" fmla="val -9750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/>
              <a:t>Documenti recuperati</a:t>
            </a:r>
          </a:p>
        </p:txBody>
      </p:sp>
      <p:sp>
        <p:nvSpPr>
          <p:cNvPr id="20" name="Fumetto: rettangolo 19">
            <a:extLst>
              <a:ext uri="{FF2B5EF4-FFF2-40B4-BE49-F238E27FC236}">
                <a16:creationId xmlns:a16="http://schemas.microsoft.com/office/drawing/2014/main" id="{C08BE432-8B47-B4CA-2DB2-031D0E29D553}"/>
              </a:ext>
            </a:extLst>
          </p:cNvPr>
          <p:cNvSpPr/>
          <p:nvPr/>
        </p:nvSpPr>
        <p:spPr>
          <a:xfrm>
            <a:off x="4372408" y="4444071"/>
            <a:ext cx="1205023" cy="462161"/>
          </a:xfrm>
          <a:prstGeom prst="wedgeRectCallout">
            <a:avLst>
              <a:gd name="adj1" fmla="val 59495"/>
              <a:gd name="adj2" fmla="val -2555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/>
              <a:t>Sia rilevante che supportato</a:t>
            </a:r>
          </a:p>
        </p:txBody>
      </p:sp>
    </p:spTree>
    <p:extLst>
      <p:ext uri="{BB962C8B-B14F-4D97-AF65-F5344CB8AC3E}">
        <p14:creationId xmlns:p14="http://schemas.microsoft.com/office/powerpoint/2010/main" val="286693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45D4DDAD-1581-FDA1-7F9A-A1F1633B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Sistemi multi-agent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AB91940A-7023-E0E9-DC95-D46A12F2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L’idea è che più agenti possano individuare errori che un singolo agente potrebbe non rilevare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Un tipo di interazione tra più agenti è il Role-Playing, in cui un problema complesso viene scomposto in sotto-task e ognuno di questi viene asssegnato ad un agente diverso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D70B71-63A0-7950-94D9-CA6BA2AC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081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7B56-BD3E-B5DE-2DD7-01B4F0FC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A4C4FF-27BD-56EE-6A98-B616D874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Direzioni di ricerca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EFD913-E6DA-60FA-94EC-2095D9B45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L’</a:t>
            </a: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IA Neuro-Simbolica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unisce il Deep Learning e la Logica Simbolica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La Logica Simbolica è un modo di rappresentare la conoscenza tramite simboli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 L’idea dell’IA Neuro-Simbolica è combinare le capacità delle reti neurali con le regole della Logica Simbolica, in modo da risolvere le ambiguità del linguaggio naturale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A75AE8-5D95-CDEB-57B7-E07094A7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926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46721D-DE8E-CD41-0172-8C8D59D0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/>
              <a:t>Direzioni di ricerca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574D24-483C-94C9-84FA-BFBDA99D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AlphaGeometry: sistema che risolve problemi di geometria complessi. Combina un modello neurale per proporre soluzioni e un motore simbolico per verificare ogni passaggio in modo rigoroso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/>
              <a:t> LogicLM: framework che forza il LLM a tradurre un problema in un linguaggio di programmazione logica. Le soluzioni sono fornite da un solver esterno.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1FE006-FA4B-59D5-8958-FDCD54CE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5BBB4-D05C-4BB6-A47E-461540F916E6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8480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Blu verd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ersonalizzato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2426</TotalTime>
  <Words>2915</Words>
  <Application>Microsoft Office PowerPoint</Application>
  <PresentationFormat>Widescreen</PresentationFormat>
  <Paragraphs>271</Paragraphs>
  <Slides>45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45</vt:i4>
      </vt:variant>
    </vt:vector>
  </HeadingPairs>
  <TitlesOfParts>
    <vt:vector size="51" baseType="lpstr">
      <vt:lpstr>Aptos</vt:lpstr>
      <vt:lpstr>Arial</vt:lpstr>
      <vt:lpstr>Calibri</vt:lpstr>
      <vt:lpstr>Cambria Math</vt:lpstr>
      <vt:lpstr>Courier New</vt:lpstr>
      <vt:lpstr>Retrospettivo</vt:lpstr>
      <vt:lpstr>Text Generation e Chatbot</vt:lpstr>
      <vt:lpstr>Approccio  rule-based</vt:lpstr>
      <vt:lpstr>Approccio statistico</vt:lpstr>
      <vt:lpstr>Approccio statistico</vt:lpstr>
      <vt:lpstr>Approccio statistico</vt:lpstr>
      <vt:lpstr>Approccio neurale: RNN</vt:lpstr>
      <vt:lpstr>Presentazione standard di PowerPoint</vt:lpstr>
      <vt:lpstr>Approccio neurale: LSTM</vt:lpstr>
      <vt:lpstr>Approccio neurale: Transformer</vt:lpstr>
      <vt:lpstr>Transformer vs RNN</vt:lpstr>
      <vt:lpstr>Transformer vs RNN</vt:lpstr>
      <vt:lpstr>Transformer vs RNN</vt:lpstr>
      <vt:lpstr>Transformer vs RNN</vt:lpstr>
      <vt:lpstr>Chatbot</vt:lpstr>
      <vt:lpstr>Instruction Tuning</vt:lpstr>
      <vt:lpstr>SFT</vt:lpstr>
      <vt:lpstr>Presentazione standard di PowerPoint</vt:lpstr>
      <vt:lpstr>Limite dell’Instruction Tuning</vt:lpstr>
      <vt:lpstr>RLHF</vt:lpstr>
      <vt:lpstr>RLHF</vt:lpstr>
      <vt:lpstr>RLHF</vt:lpstr>
      <vt:lpstr>RLHF</vt:lpstr>
      <vt:lpstr>Allucinazioni</vt:lpstr>
      <vt:lpstr>Limiti architetturali</vt:lpstr>
      <vt:lpstr>Cause legate all’addestramento</vt:lpstr>
      <vt:lpstr>Cause a tempo di inferenza</vt:lpstr>
      <vt:lpstr>Limiti della conoscenza</vt:lpstr>
      <vt:lpstr>Limiti nell’uso del modello</vt:lpstr>
      <vt:lpstr>Ragionamento multi-step</vt:lpstr>
      <vt:lpstr>Chain-of-Thoughts</vt:lpstr>
      <vt:lpstr>Self-Consistency</vt:lpstr>
      <vt:lpstr>Tree-of-Thoughts</vt:lpstr>
      <vt:lpstr>Presentazione standard di PowerPoint</vt:lpstr>
      <vt:lpstr>Sistemi agentici</vt:lpstr>
      <vt:lpstr>Architettura di un sistema agentico</vt:lpstr>
      <vt:lpstr>1. ReAct</vt:lpstr>
      <vt:lpstr>2. Self-Reflection</vt:lpstr>
      <vt:lpstr>Reflexion</vt:lpstr>
      <vt:lpstr>Presentazione standard di PowerPoint</vt:lpstr>
      <vt:lpstr>3. Self-RAG</vt:lpstr>
      <vt:lpstr>Self-RAG</vt:lpstr>
      <vt:lpstr>Presentazione standard di PowerPoint</vt:lpstr>
      <vt:lpstr>Sistemi multi-agent</vt:lpstr>
      <vt:lpstr>Direzioni di ricerca</vt:lpstr>
      <vt:lpstr>Direzioni di ricerca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CHESTA LORENZO</dc:creator>
  <cp:lastModifiedBy>CHESTA LORENZO</cp:lastModifiedBy>
  <cp:revision>234</cp:revision>
  <dcterms:created xsi:type="dcterms:W3CDTF">2026-04-23T15:05:37Z</dcterms:created>
  <dcterms:modified xsi:type="dcterms:W3CDTF">2026-05-04T16:16:50Z</dcterms:modified>
</cp:coreProperties>
</file>